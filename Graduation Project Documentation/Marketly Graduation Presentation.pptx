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20"/>
  </p:notesMasterIdLst>
  <p:sldIdLst>
    <p:sldId id="256" r:id="rId2"/>
    <p:sldId id="257" r:id="rId3"/>
    <p:sldId id="258" r:id="rId4"/>
    <p:sldId id="260" r:id="rId5"/>
    <p:sldId id="275" r:id="rId6"/>
    <p:sldId id="261" r:id="rId7"/>
    <p:sldId id="262" r:id="rId8"/>
    <p:sldId id="263" r:id="rId9"/>
    <p:sldId id="264" r:id="rId10"/>
    <p:sldId id="265" r:id="rId11"/>
    <p:sldId id="277" r:id="rId12"/>
    <p:sldId id="266" r:id="rId13"/>
    <p:sldId id="278" r:id="rId14"/>
    <p:sldId id="268" r:id="rId15"/>
    <p:sldId id="279" r:id="rId16"/>
    <p:sldId id="270" r:id="rId17"/>
    <p:sldId id="271" r:id="rId18"/>
    <p:sldId id="280" r:id="rId19"/>
  </p:sldIdLst>
  <p:sldSz cx="12192000" cy="6858000"/>
  <p:notesSz cx="6858000" cy="9144000"/>
  <p:embeddedFontLst>
    <p:embeddedFont>
      <p:font typeface="Calibri" panose="020F0502020204030204" pitchFamily="34" charset="0"/>
      <p:regular r:id="rId21"/>
      <p:bold r:id="rId22"/>
      <p:italic r:id="rId23"/>
      <p:boldItalic r:id="rId24"/>
    </p:embeddedFont>
    <p:embeddedFont>
      <p:font typeface="Inter" panose="020B0604020202020204" charset="0"/>
      <p:regular r:id="rId25"/>
      <p:bold r:id="rId26"/>
      <p:italic r:id="rId27"/>
      <p:boldItalic r:id="rId28"/>
    </p:embeddedFont>
    <p:embeddedFont>
      <p:font typeface="Inter Light" panose="020B0604020202020204" charset="0"/>
      <p:regular r:id="rId29"/>
      <p:bold r:id="rId30"/>
      <p:italic r:id="rId31"/>
      <p:boldItalic r:id="rId32"/>
    </p:embeddedFont>
    <p:embeddedFont>
      <p:font typeface="Inter SemiBold" panose="020B0604020202020204" charset="0"/>
      <p:regular r:id="rId33"/>
      <p:bold r:id="rId34"/>
      <p:italic r:id="rId35"/>
      <p:boldItalic r:id="rId36"/>
    </p:embeddedFont>
    <p:embeddedFont>
      <p:font typeface="Urbanist" panose="020B0604020202020204" charset="0"/>
      <p:regular r:id="rId37"/>
      <p:bold r:id="rId38"/>
      <p:italic r:id="rId39"/>
      <p:boldItalic r:id="rId40"/>
    </p:embeddedFont>
    <p:embeddedFont>
      <p:font typeface="Urbanist SemiBold" panose="020B0604020202020204" charset="0"/>
      <p:regular r:id="rId41"/>
      <p:bold r:id="rId42"/>
      <p:italic r:id="rId43"/>
      <p:boldItalic r:id="rId44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66BFF"/>
    <a:srgbClr val="4E8BFF"/>
    <a:srgbClr val="2FB9FF"/>
    <a:srgbClr val="153049"/>
    <a:srgbClr val="1C4D6C"/>
    <a:srgbClr val="94A3B8"/>
    <a:srgbClr val="818CF8"/>
    <a:srgbClr val="38BDF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F9CDF40D-BEBB-4C7A-80F6-6362EFB91E30}">
  <a:tblStyle styleId="{F9CDF40D-BEBB-4C7A-80F6-6362EFB91E30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8ECF4"/>
          </a:solidFill>
        </a:fill>
      </a:tcStyle>
    </a:wholeTbl>
    <a:band1H>
      <a:tcTxStyle/>
      <a:tcStyle>
        <a:tcBdr/>
        <a:fill>
          <a:solidFill>
            <a:srgbClr val="CFD7E7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FD7E7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2" autoAdjust="0"/>
    <p:restoredTop sz="94696" autoAdjust="0"/>
  </p:normalViewPr>
  <p:slideViewPr>
    <p:cSldViewPr snapToGrid="0">
      <p:cViewPr>
        <p:scale>
          <a:sx n="75" d="100"/>
          <a:sy n="75" d="100"/>
        </p:scale>
        <p:origin x="946" y="437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6.fntdata"/><Relationship Id="rId39" Type="http://schemas.openxmlformats.org/officeDocument/2006/relationships/font" Target="fonts/font19.fntdata"/><Relationship Id="rId21" Type="http://schemas.openxmlformats.org/officeDocument/2006/relationships/font" Target="fonts/font1.fntdata"/><Relationship Id="rId34" Type="http://schemas.openxmlformats.org/officeDocument/2006/relationships/font" Target="fonts/font14.fntdata"/><Relationship Id="rId42" Type="http://schemas.openxmlformats.org/officeDocument/2006/relationships/font" Target="fonts/font22.fntdata"/><Relationship Id="rId47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font" Target="fonts/font9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4.fntdata"/><Relationship Id="rId32" Type="http://schemas.openxmlformats.org/officeDocument/2006/relationships/font" Target="fonts/font12.fntdata"/><Relationship Id="rId37" Type="http://schemas.openxmlformats.org/officeDocument/2006/relationships/font" Target="fonts/font17.fntdata"/><Relationship Id="rId40" Type="http://schemas.openxmlformats.org/officeDocument/2006/relationships/font" Target="fonts/font20.fntdata"/><Relationship Id="rId45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3.fntdata"/><Relationship Id="rId28" Type="http://schemas.openxmlformats.org/officeDocument/2006/relationships/font" Target="fonts/font8.fntdata"/><Relationship Id="rId36" Type="http://schemas.openxmlformats.org/officeDocument/2006/relationships/font" Target="fonts/font16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11.fntdata"/><Relationship Id="rId44" Type="http://schemas.openxmlformats.org/officeDocument/2006/relationships/font" Target="fonts/font24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2.fntdata"/><Relationship Id="rId27" Type="http://schemas.openxmlformats.org/officeDocument/2006/relationships/font" Target="fonts/font7.fntdata"/><Relationship Id="rId30" Type="http://schemas.openxmlformats.org/officeDocument/2006/relationships/font" Target="fonts/font10.fntdata"/><Relationship Id="rId35" Type="http://schemas.openxmlformats.org/officeDocument/2006/relationships/font" Target="fonts/font15.fntdata"/><Relationship Id="rId43" Type="http://schemas.openxmlformats.org/officeDocument/2006/relationships/font" Target="fonts/font23.fntdata"/><Relationship Id="rId48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5.fntdata"/><Relationship Id="rId33" Type="http://schemas.openxmlformats.org/officeDocument/2006/relationships/font" Target="fonts/font13.fntdata"/><Relationship Id="rId38" Type="http://schemas.openxmlformats.org/officeDocument/2006/relationships/font" Target="fonts/font18.fntdata"/><Relationship Id="rId46" Type="http://schemas.openxmlformats.org/officeDocument/2006/relationships/viewProps" Target="viewProps.xml"/><Relationship Id="rId20" Type="http://schemas.openxmlformats.org/officeDocument/2006/relationships/notesMaster" Target="notesMasters/notesMaster1.xml"/><Relationship Id="rId41" Type="http://schemas.openxmlformats.org/officeDocument/2006/relationships/font" Target="fonts/font21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1" name="Google Shape;91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0" name="Google Shape;130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0" name="Google Shape;130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8376143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8" name="Google Shape;148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5" name="Google Shape;165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3" name="Google Shape;183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9" name="Google Shape;199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1" name="Google Shape;221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Google Shape;242;p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3" name="Google Shape;243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50489217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Google Shape;242;p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3" name="Google Shape;243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Google Shape;242;p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3" name="Google Shape;243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83171941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273;p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4" name="Google Shape;274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273;p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4" name="Google Shape;274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7404184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305;p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6" name="Google Shape;306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4" name="Google Shape;314;p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Google Shape;330;p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1" name="Google Shape;331;p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3"/>
          <p:cNvSpPr txBox="1"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3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4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7" name="Google Shape;37;p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4" name="Google Shape;44;p7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7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6" name="Google Shape;46;p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58" name="Google Shape;58;p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0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5" name="Google Shape;65;p1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1"/>
          <p:cNvSpPr txBox="1">
            <a:spLocks noGrp="1"/>
          </p:cNvSpPr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2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Relationship Id="rId9" Type="http://schemas.openxmlformats.org/officeDocument/2006/relationships/image" Target="../media/image11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1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Relationship Id="rId9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1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png"/><Relationship Id="rId11" Type="http://schemas.openxmlformats.org/officeDocument/2006/relationships/image" Target="../media/image20.png"/><Relationship Id="rId5" Type="http://schemas.openxmlformats.org/officeDocument/2006/relationships/image" Target="../media/image15.png"/><Relationship Id="rId10" Type="http://schemas.openxmlformats.org/officeDocument/2006/relationships/image" Target="../media/image19.png"/><Relationship Id="rId4" Type="http://schemas.openxmlformats.org/officeDocument/2006/relationships/image" Target="../media/image14.png"/><Relationship Id="rId9" Type="http://schemas.openxmlformats.org/officeDocument/2006/relationships/image" Target="../media/image1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7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8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oogle Shape;84;p13" descr="image.png">
            <a:extLst>
              <a:ext uri="{FF2B5EF4-FFF2-40B4-BE49-F238E27FC236}">
                <a16:creationId xmlns:a16="http://schemas.microsoft.com/office/drawing/2014/main" id="{94AA0AA9-885F-4A7D-972D-AC87961BD830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42240" y="-132080"/>
            <a:ext cx="12476480" cy="7122160"/>
          </a:xfrm>
          <a:prstGeom prst="rect">
            <a:avLst/>
          </a:prstGeom>
          <a:noFill/>
          <a:ln>
            <a:noFill/>
          </a:ln>
        </p:spPr>
      </p:pic>
      <p:pic>
        <p:nvPicPr>
          <p:cNvPr id="84" name="Google Shape;84;p1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3"/>
          <p:cNvSpPr txBox="1"/>
          <p:nvPr/>
        </p:nvSpPr>
        <p:spPr>
          <a:xfrm>
            <a:off x="4003964" y="3147063"/>
            <a:ext cx="4184072" cy="4431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994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>
                <a:solidFill>
                  <a:srgbClr val="CBD5E1"/>
                </a:solidFill>
                <a:latin typeface="Inter Light"/>
                <a:ea typeface="Inter Light"/>
                <a:cs typeface="Inter Light"/>
                <a:sym typeface="Inter Light"/>
              </a:rPr>
              <a:t>Modern E-Commerce Web Application</a:t>
            </a:r>
            <a:endParaRPr dirty="0"/>
          </a:p>
        </p:txBody>
      </p:sp>
      <p:sp>
        <p:nvSpPr>
          <p:cNvPr id="87" name="Google Shape;87;p13"/>
          <p:cNvSpPr txBox="1"/>
          <p:nvPr/>
        </p:nvSpPr>
        <p:spPr>
          <a:xfrm>
            <a:off x="4552950" y="4080420"/>
            <a:ext cx="30861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38BDF8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Graduation Project Defense</a:t>
            </a:r>
            <a:endParaRPr dirty="0"/>
          </a:p>
        </p:txBody>
      </p:sp>
      <p:sp>
        <p:nvSpPr>
          <p:cNvPr id="88" name="Google Shape;88;p13"/>
          <p:cNvSpPr txBox="1"/>
          <p:nvPr/>
        </p:nvSpPr>
        <p:spPr>
          <a:xfrm>
            <a:off x="4170218" y="4480470"/>
            <a:ext cx="3851564" cy="17727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Presented by:</a:t>
            </a:r>
          </a:p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solidFill>
                  <a:srgbClr val="94A3B8"/>
                </a:solidFill>
                <a:latin typeface="Inter"/>
                <a:ea typeface="Inter"/>
                <a:sym typeface="Inter"/>
              </a:rPr>
              <a:t>Sohaib Ayman Elsayed Elbadawy Ashry</a:t>
            </a:r>
          </a:p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solidFill>
                  <a:srgbClr val="94A3B8"/>
                </a:solidFill>
                <a:latin typeface="Inter"/>
                <a:ea typeface="Inter"/>
                <a:sym typeface="Inter"/>
              </a:rPr>
              <a:t>Hossam Hassan Mostafa Hassan</a:t>
            </a:r>
          </a:p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solidFill>
                  <a:srgbClr val="94A3B8"/>
                </a:solidFill>
                <a:latin typeface="Inter"/>
                <a:ea typeface="Inter"/>
                <a:sym typeface="Inter"/>
              </a:rPr>
              <a:t>Rawan Hamdi Mohamed Saad</a:t>
            </a:r>
          </a:p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solidFill>
                  <a:srgbClr val="94A3B8"/>
                </a:solidFill>
                <a:latin typeface="Inter"/>
                <a:ea typeface="Inter"/>
                <a:sym typeface="Inter"/>
              </a:rPr>
              <a:t>Abdelrahman Khaled Slahelden Mohamed</a:t>
            </a:r>
          </a:p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solidFill>
                  <a:srgbClr val="94A3B8"/>
                </a:solidFill>
                <a:latin typeface="Inter"/>
                <a:ea typeface="Inter"/>
                <a:sym typeface="Inter"/>
              </a:rPr>
              <a:t>Mohamed Ahmed Thabet Hussein</a:t>
            </a:r>
            <a:endParaRPr sz="12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30EABD8-69DF-4AD2-BCBB-6D78C4918BD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26479" y="1803862"/>
            <a:ext cx="5939042" cy="1339388"/>
          </a:xfrm>
          <a:prstGeom prst="rect">
            <a:avLst/>
          </a:prstGeom>
        </p:spPr>
      </p:pic>
      <p:sp>
        <p:nvSpPr>
          <p:cNvPr id="9" name="Google Shape;86;p13">
            <a:extLst>
              <a:ext uri="{FF2B5EF4-FFF2-40B4-BE49-F238E27FC236}">
                <a16:creationId xmlns:a16="http://schemas.microsoft.com/office/drawing/2014/main" id="{2A54AD71-3212-4265-A823-716CBC28AF29}"/>
              </a:ext>
            </a:extLst>
          </p:cNvPr>
          <p:cNvSpPr txBox="1"/>
          <p:nvPr/>
        </p:nvSpPr>
        <p:spPr>
          <a:xfrm>
            <a:off x="4710545" y="3581111"/>
            <a:ext cx="2770910" cy="2954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994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rgbClr val="CBD5E1"/>
                </a:solidFill>
                <a:latin typeface="Inter Light"/>
                <a:ea typeface="Inter Light"/>
                <a:cs typeface="Inter Light"/>
                <a:sym typeface="Inter Light"/>
              </a:rPr>
              <a:t>Digital Egypt Pioneers Initiative (DEPI)</a:t>
            </a:r>
            <a:endParaRPr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oogle Shape;84;p13" descr="image.png">
            <a:extLst>
              <a:ext uri="{FF2B5EF4-FFF2-40B4-BE49-F238E27FC236}">
                <a16:creationId xmlns:a16="http://schemas.microsoft.com/office/drawing/2014/main" id="{89611F8C-D8C2-4D2F-B7CE-70F24B227648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42240" y="-132080"/>
            <a:ext cx="12476480" cy="7122160"/>
          </a:xfrm>
          <a:prstGeom prst="rect">
            <a:avLst/>
          </a:prstGeom>
          <a:noFill/>
          <a:ln>
            <a:noFill/>
          </a:ln>
        </p:spPr>
      </p:pic>
      <p:pic>
        <p:nvPicPr>
          <p:cNvPr id="93" name="Google Shape;93;p1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14"/>
          <p:cNvSpPr txBox="1"/>
          <p:nvPr/>
        </p:nvSpPr>
        <p:spPr>
          <a:xfrm>
            <a:off x="571500" y="571500"/>
            <a:ext cx="11601450" cy="552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0" i="0" u="none" strike="noStrike" cap="none">
                <a:solidFill>
                  <a:srgbClr val="38BDF8"/>
                </a:solidFill>
                <a:latin typeface="Urbanist SemiBold"/>
                <a:ea typeface="Urbanist SemiBold"/>
                <a:cs typeface="Urbanist SemiBold"/>
                <a:sym typeface="Urbanist SemiBold"/>
              </a:rPr>
              <a:t>Project Overview</a:t>
            </a:r>
            <a:endParaRPr/>
          </a:p>
        </p:txBody>
      </p:sp>
      <p:sp>
        <p:nvSpPr>
          <p:cNvPr id="96" name="Google Shape;96;p14"/>
          <p:cNvSpPr txBox="1"/>
          <p:nvPr/>
        </p:nvSpPr>
        <p:spPr>
          <a:xfrm>
            <a:off x="571500" y="2514600"/>
            <a:ext cx="5500687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 dirty="0">
                <a:solidFill>
                  <a:srgbClr val="818CF8"/>
                </a:solidFill>
                <a:latin typeface="Urbanist SemiBold"/>
                <a:ea typeface="Urbanist SemiBold"/>
                <a:cs typeface="Urbanist SemiBold"/>
                <a:sym typeface="Urbanist SemiBold"/>
              </a:rPr>
              <a:t>About Marketly</a:t>
            </a:r>
            <a:endParaRPr dirty="0"/>
          </a:p>
        </p:txBody>
      </p:sp>
      <p:sp>
        <p:nvSpPr>
          <p:cNvPr id="97" name="Google Shape;97;p14"/>
          <p:cNvSpPr txBox="1"/>
          <p:nvPr/>
        </p:nvSpPr>
        <p:spPr>
          <a:xfrm>
            <a:off x="571500" y="2952750"/>
            <a:ext cx="5238750" cy="29546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Marketly is a modern e-commerce web application that allows users to:</a:t>
            </a:r>
          </a:p>
          <a:p>
            <a:pPr marL="285750" lvl="2" indent="-285750">
              <a:lnSpc>
                <a:spcPct val="160000"/>
              </a:lnSpc>
              <a:buClr>
                <a:srgbClr val="94A3B8"/>
              </a:buClr>
              <a:buFont typeface="Arial" panose="020B0604020202020204" pitchFamily="34" charset="0"/>
              <a:buChar char="•"/>
            </a:pPr>
            <a:r>
              <a:rPr lang="en-US" sz="1500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Browse products by category</a:t>
            </a:r>
          </a:p>
          <a:p>
            <a:pPr marL="285750" lvl="1" indent="-285750">
              <a:lnSpc>
                <a:spcPct val="160000"/>
              </a:lnSpc>
              <a:buClr>
                <a:srgbClr val="94A3B8"/>
              </a:buClr>
              <a:buFont typeface="Arial" panose="020B0604020202020204" pitchFamily="34" charset="0"/>
              <a:buChar char="•"/>
            </a:pPr>
            <a:r>
              <a:rPr lang="en-US" sz="1500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Search and view product details</a:t>
            </a:r>
          </a:p>
          <a:p>
            <a:pPr marL="285750" lvl="1" indent="-285750">
              <a:lnSpc>
                <a:spcPct val="160000"/>
              </a:lnSpc>
              <a:buClr>
                <a:srgbClr val="94A3B8"/>
              </a:buClr>
              <a:buFont typeface="Arial" panose="020B0604020202020204" pitchFamily="34" charset="0"/>
              <a:buChar char="•"/>
            </a:pPr>
            <a:r>
              <a:rPr lang="en-US" sz="1500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Manage shopping carts</a:t>
            </a:r>
          </a:p>
          <a:p>
            <a:pPr marL="285750" lvl="1" indent="-285750">
              <a:lnSpc>
                <a:spcPct val="160000"/>
              </a:lnSpc>
              <a:buClr>
                <a:srgbClr val="94A3B8"/>
              </a:buClr>
              <a:buFont typeface="Arial" panose="020B0604020202020204" pitchFamily="34" charset="0"/>
              <a:buChar char="•"/>
            </a:pPr>
            <a:r>
              <a:rPr lang="en-US" sz="1500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Place and track orders</a:t>
            </a:r>
          </a:p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The platform also provides an administrative dashboard for managing products, users, and orders.</a:t>
            </a:r>
            <a:endParaRPr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7E8C9E9-2435-45B5-ABB0-0BB29BC3913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96044" y="2919276"/>
            <a:ext cx="2410161" cy="1952898"/>
          </a:xfrm>
          <a:prstGeom prst="rect">
            <a:avLst/>
          </a:prstGeom>
        </p:spPr>
      </p:pic>
      <p:sp>
        <p:nvSpPr>
          <p:cNvPr id="9" name="Oval 8">
            <a:extLst>
              <a:ext uri="{FF2B5EF4-FFF2-40B4-BE49-F238E27FC236}">
                <a16:creationId xmlns:a16="http://schemas.microsoft.com/office/drawing/2014/main" id="{FCB8EC9D-99CE-4F09-A93B-54EBB1529F9F}"/>
              </a:ext>
            </a:extLst>
          </p:cNvPr>
          <p:cNvSpPr/>
          <p:nvPr/>
        </p:nvSpPr>
        <p:spPr>
          <a:xfrm>
            <a:off x="7119938" y="1990725"/>
            <a:ext cx="3810000" cy="3810000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circle/>
      </p:transition>
    </mc:Choice>
    <mc:Fallback xmlns="">
      <p:transition spd="slow">
        <p:circl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Google Shape;84;p13" descr="image.png">
            <a:extLst>
              <a:ext uri="{FF2B5EF4-FFF2-40B4-BE49-F238E27FC236}">
                <a16:creationId xmlns:a16="http://schemas.microsoft.com/office/drawing/2014/main" id="{E59F71D2-9D04-4FB2-9BE7-F1A21323E7A2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42240" y="-132080"/>
            <a:ext cx="12476480" cy="712216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4" name="Google Shape;104;p15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5" name="Google Shape;105;p15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2077836"/>
            <a:ext cx="5238750" cy="3148488"/>
          </a:xfrm>
          <a:prstGeom prst="rect">
            <a:avLst/>
          </a:prstGeom>
          <a:noFill/>
          <a:ln>
            <a:noFill/>
          </a:ln>
        </p:spPr>
      </p:pic>
      <p:pic>
        <p:nvPicPr>
          <p:cNvPr id="106" name="Google Shape;106;p15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381750" y="2077836"/>
            <a:ext cx="5238750" cy="3148488"/>
          </a:xfrm>
          <a:prstGeom prst="rect">
            <a:avLst/>
          </a:prstGeom>
          <a:noFill/>
          <a:ln>
            <a:noFill/>
          </a:ln>
        </p:spPr>
      </p:pic>
      <p:sp>
        <p:nvSpPr>
          <p:cNvPr id="107" name="Google Shape;107;p15"/>
          <p:cNvSpPr txBox="1"/>
          <p:nvPr/>
        </p:nvSpPr>
        <p:spPr>
          <a:xfrm>
            <a:off x="571500" y="571500"/>
            <a:ext cx="11601450" cy="552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0" i="0" u="none" strike="noStrike" cap="none" dirty="0">
                <a:solidFill>
                  <a:srgbClr val="38BDF8"/>
                </a:solidFill>
                <a:latin typeface="Urbanist SemiBold"/>
                <a:ea typeface="Urbanist SemiBold"/>
                <a:cs typeface="Urbanist SemiBold"/>
                <a:sym typeface="Urbanist SemiBold"/>
              </a:rPr>
              <a:t>Problem Statement</a:t>
            </a:r>
            <a:endParaRPr dirty="0"/>
          </a:p>
        </p:txBody>
      </p:sp>
      <p:sp>
        <p:nvSpPr>
          <p:cNvPr id="108" name="Google Shape;108;p15"/>
          <p:cNvSpPr txBox="1"/>
          <p:nvPr/>
        </p:nvSpPr>
        <p:spPr>
          <a:xfrm>
            <a:off x="571500" y="5481637"/>
            <a:ext cx="11049000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1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Marketly was developed to simplify product management, streamline order processing, and provide a modern shopping experience.</a:t>
            </a:r>
            <a:endParaRPr dirty="0"/>
          </a:p>
        </p:txBody>
      </p:sp>
      <p:sp>
        <p:nvSpPr>
          <p:cNvPr id="109" name="Google Shape;109;p15"/>
          <p:cNvSpPr txBox="1"/>
          <p:nvPr/>
        </p:nvSpPr>
        <p:spPr>
          <a:xfrm>
            <a:off x="914400" y="3173211"/>
            <a:ext cx="4780597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 dirty="0">
                <a:solidFill>
                  <a:srgbClr val="818CF8"/>
                </a:solidFill>
                <a:latin typeface="Urbanist SemiBold"/>
                <a:ea typeface="Urbanist SemiBold"/>
                <a:cs typeface="Urbanist SemiBold"/>
                <a:sym typeface="Urbanist SemiBold"/>
              </a:rPr>
              <a:t>Product Management Challenges</a:t>
            </a:r>
            <a:endParaRPr dirty="0"/>
          </a:p>
        </p:txBody>
      </p:sp>
      <p:sp>
        <p:nvSpPr>
          <p:cNvPr id="110" name="Google Shape;110;p15"/>
          <p:cNvSpPr txBox="1"/>
          <p:nvPr/>
        </p:nvSpPr>
        <p:spPr>
          <a:xfrm>
            <a:off x="914400" y="3611361"/>
            <a:ext cx="4552950" cy="11079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Businesses need an efficient way to organize products, categories, and inventory information through a centralized and easy-to-use platform.</a:t>
            </a:r>
            <a:endParaRPr dirty="0"/>
          </a:p>
        </p:txBody>
      </p:sp>
      <p:sp>
        <p:nvSpPr>
          <p:cNvPr id="111" name="Google Shape;111;p15"/>
          <p:cNvSpPr txBox="1"/>
          <p:nvPr/>
        </p:nvSpPr>
        <p:spPr>
          <a:xfrm>
            <a:off x="6724650" y="3173211"/>
            <a:ext cx="4780597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 dirty="0">
                <a:solidFill>
                  <a:srgbClr val="818CF8"/>
                </a:solidFill>
                <a:latin typeface="Urbanist SemiBold"/>
                <a:ea typeface="Urbanist SemiBold"/>
                <a:cs typeface="Urbanist SemiBold"/>
                <a:sym typeface="Urbanist SemiBold"/>
              </a:rPr>
              <a:t>Order Management Challenges</a:t>
            </a:r>
            <a:endParaRPr dirty="0"/>
          </a:p>
        </p:txBody>
      </p:sp>
      <p:sp>
        <p:nvSpPr>
          <p:cNvPr id="112" name="Google Shape;112;p15"/>
          <p:cNvSpPr txBox="1"/>
          <p:nvPr/>
        </p:nvSpPr>
        <p:spPr>
          <a:xfrm>
            <a:off x="6724650" y="3611361"/>
            <a:ext cx="4552950" cy="11079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Managing customer orders manually can be time-consuming, difficult to track, and may lead to operational errors and poor user experience.</a:t>
            </a:r>
            <a:endParaRPr dirty="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90999C6E-01D9-4964-B8A9-05FEBD1501C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" y="2422684"/>
            <a:ext cx="464777" cy="464777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AF78021B-90D0-4397-8635-4E0196FFCDD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24650" y="2422684"/>
            <a:ext cx="464777" cy="464777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Google Shape;84;p13" descr="image.png">
            <a:extLst>
              <a:ext uri="{FF2B5EF4-FFF2-40B4-BE49-F238E27FC236}">
                <a16:creationId xmlns:a16="http://schemas.microsoft.com/office/drawing/2014/main" id="{28519363-AE07-41C8-90F0-4C4904E787CD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42240" y="-132080"/>
            <a:ext cx="12476480" cy="712216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2" name="Google Shape;132;p17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17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2077836"/>
            <a:ext cx="3492549" cy="3148488"/>
          </a:xfrm>
          <a:prstGeom prst="rect">
            <a:avLst/>
          </a:prstGeom>
          <a:noFill/>
          <a:ln>
            <a:noFill/>
          </a:ln>
        </p:spPr>
      </p:pic>
      <p:pic>
        <p:nvPicPr>
          <p:cNvPr id="134" name="Google Shape;134;p17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349799" y="2077836"/>
            <a:ext cx="3492549" cy="3148488"/>
          </a:xfrm>
          <a:prstGeom prst="rect">
            <a:avLst/>
          </a:prstGeom>
          <a:noFill/>
          <a:ln>
            <a:noFill/>
          </a:ln>
        </p:spPr>
      </p:pic>
      <p:pic>
        <p:nvPicPr>
          <p:cNvPr id="135" name="Google Shape;135;p17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8128099" y="2077836"/>
            <a:ext cx="3492549" cy="3148488"/>
          </a:xfrm>
          <a:prstGeom prst="rect">
            <a:avLst/>
          </a:prstGeom>
          <a:noFill/>
          <a:ln>
            <a:noFill/>
          </a:ln>
        </p:spPr>
      </p:pic>
      <p:sp>
        <p:nvSpPr>
          <p:cNvPr id="137" name="Google Shape;137;p17"/>
          <p:cNvSpPr txBox="1"/>
          <p:nvPr/>
        </p:nvSpPr>
        <p:spPr>
          <a:xfrm>
            <a:off x="914400" y="3173210"/>
            <a:ext cx="2947087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dirty="0">
                <a:solidFill>
                  <a:srgbClr val="818CF8"/>
                </a:solidFill>
                <a:latin typeface="Urbanist SemiBold"/>
                <a:ea typeface="Urbanist SemiBold"/>
                <a:cs typeface="Urbanist SemiBold"/>
                <a:sym typeface="Urbanist SemiBold"/>
              </a:rPr>
              <a:t>Modern E-Commerce Platform</a:t>
            </a:r>
            <a:endParaRPr dirty="0"/>
          </a:p>
        </p:txBody>
      </p:sp>
      <p:sp>
        <p:nvSpPr>
          <p:cNvPr id="138" name="Google Shape;138;p17"/>
          <p:cNvSpPr txBox="1"/>
          <p:nvPr/>
        </p:nvSpPr>
        <p:spPr>
          <a:xfrm>
            <a:off x="914400" y="3819541"/>
            <a:ext cx="2806749" cy="11079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Provide a complete online shopping experience through a modern web application.</a:t>
            </a:r>
            <a:endParaRPr dirty="0"/>
          </a:p>
        </p:txBody>
      </p:sp>
      <p:sp>
        <p:nvSpPr>
          <p:cNvPr id="139" name="Google Shape;139;p17"/>
          <p:cNvSpPr txBox="1"/>
          <p:nvPr/>
        </p:nvSpPr>
        <p:spPr>
          <a:xfrm>
            <a:off x="4692699" y="3173210"/>
            <a:ext cx="2947087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 dirty="0">
                <a:solidFill>
                  <a:srgbClr val="818CF8"/>
                </a:solidFill>
                <a:latin typeface="Urbanist SemiBold"/>
                <a:ea typeface="Urbanist SemiBold"/>
                <a:cs typeface="Urbanist SemiBold"/>
                <a:sym typeface="Urbanist SemiBold"/>
              </a:rPr>
              <a:t>Secure User Management</a:t>
            </a:r>
            <a:endParaRPr dirty="0"/>
          </a:p>
        </p:txBody>
      </p:sp>
      <p:sp>
        <p:nvSpPr>
          <p:cNvPr id="140" name="Google Shape;140;p17"/>
          <p:cNvSpPr txBox="1"/>
          <p:nvPr/>
        </p:nvSpPr>
        <p:spPr>
          <a:xfrm>
            <a:off x="4692699" y="3819541"/>
            <a:ext cx="2806749" cy="11079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Enable secure authentication and user account management using Firebase.</a:t>
            </a:r>
            <a:endParaRPr dirty="0"/>
          </a:p>
        </p:txBody>
      </p:sp>
      <p:sp>
        <p:nvSpPr>
          <p:cNvPr id="141" name="Google Shape;141;p17"/>
          <p:cNvSpPr txBox="1"/>
          <p:nvPr/>
        </p:nvSpPr>
        <p:spPr>
          <a:xfrm>
            <a:off x="8470999" y="3173210"/>
            <a:ext cx="2947087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 dirty="0">
                <a:solidFill>
                  <a:srgbClr val="818CF8"/>
                </a:solidFill>
                <a:latin typeface="Urbanist SemiBold"/>
                <a:ea typeface="Urbanist SemiBold"/>
                <a:cs typeface="Urbanist SemiBold"/>
                <a:sym typeface="Urbanist SemiBold"/>
              </a:rPr>
              <a:t>Efficient Business Operations</a:t>
            </a:r>
            <a:endParaRPr dirty="0"/>
          </a:p>
        </p:txBody>
      </p:sp>
      <p:sp>
        <p:nvSpPr>
          <p:cNvPr id="142" name="Google Shape;142;p17"/>
          <p:cNvSpPr txBox="1"/>
          <p:nvPr/>
        </p:nvSpPr>
        <p:spPr>
          <a:xfrm>
            <a:off x="8470999" y="3819541"/>
            <a:ext cx="2806749" cy="11079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Simplify product, cart, and order management for customers and administrators.</a:t>
            </a:r>
            <a:endParaRPr dirty="0"/>
          </a:p>
        </p:txBody>
      </p:sp>
      <p:sp>
        <p:nvSpPr>
          <p:cNvPr id="16" name="Google Shape;120;p16">
            <a:extLst>
              <a:ext uri="{FF2B5EF4-FFF2-40B4-BE49-F238E27FC236}">
                <a16:creationId xmlns:a16="http://schemas.microsoft.com/office/drawing/2014/main" id="{6B35E523-13D0-4F2C-847C-4BDF6EDF3F07}"/>
              </a:ext>
            </a:extLst>
          </p:cNvPr>
          <p:cNvSpPr txBox="1"/>
          <p:nvPr/>
        </p:nvSpPr>
        <p:spPr>
          <a:xfrm>
            <a:off x="571500" y="571500"/>
            <a:ext cx="11601450" cy="552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0" i="0" u="none" strike="noStrike" cap="none" dirty="0">
                <a:solidFill>
                  <a:srgbClr val="38BDF8"/>
                </a:solidFill>
                <a:latin typeface="Urbanist SemiBold"/>
                <a:ea typeface="Urbanist SemiBold"/>
                <a:cs typeface="Urbanist SemiBold"/>
                <a:sym typeface="Urbanist SemiBold"/>
              </a:rPr>
              <a:t>Project Objectives</a:t>
            </a:r>
            <a:endParaRPr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97F9A96-204C-4C39-AB83-061EABAB4B0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4400" y="2465730"/>
            <a:ext cx="570884" cy="57088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7D4DD50-5463-46D6-B89E-1148FE46231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70999" y="2465729"/>
            <a:ext cx="570884" cy="570884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BB527C5F-D72A-4484-A2D6-5544A716CE77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692699" y="2465729"/>
            <a:ext cx="570884" cy="570884"/>
          </a:xfrm>
          <a:prstGeom prst="rect">
            <a:avLst/>
          </a:prstGeom>
        </p:spPr>
      </p:pic>
      <p:sp>
        <p:nvSpPr>
          <p:cNvPr id="26" name="Google Shape;108;p15">
            <a:extLst>
              <a:ext uri="{FF2B5EF4-FFF2-40B4-BE49-F238E27FC236}">
                <a16:creationId xmlns:a16="http://schemas.microsoft.com/office/drawing/2014/main" id="{AEBA5E33-FA8A-4FE2-90EE-3CB014FF86D6}"/>
              </a:ext>
            </a:extLst>
          </p:cNvPr>
          <p:cNvSpPr txBox="1"/>
          <p:nvPr/>
        </p:nvSpPr>
        <p:spPr>
          <a:xfrm>
            <a:off x="571500" y="5481637"/>
            <a:ext cx="11049000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1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The main objective of Marketly is to provide a complete, secure, and user-friendly e-commerce solution for both customers and administrators.</a:t>
            </a:r>
            <a:endParaRPr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Google Shape;84;p13" descr="image.png">
            <a:extLst>
              <a:ext uri="{FF2B5EF4-FFF2-40B4-BE49-F238E27FC236}">
                <a16:creationId xmlns:a16="http://schemas.microsoft.com/office/drawing/2014/main" id="{12A32F91-CAA8-46F9-B98F-17D2DE20B70E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42240" y="-132080"/>
            <a:ext cx="12476480" cy="712216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2" name="Google Shape;132;p17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36" name="Google Shape;136;p17"/>
          <p:cNvSpPr txBox="1"/>
          <p:nvPr/>
        </p:nvSpPr>
        <p:spPr>
          <a:xfrm>
            <a:off x="571500" y="571500"/>
            <a:ext cx="11601450" cy="552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0" i="0" u="none" strike="noStrike" cap="none" dirty="0">
                <a:solidFill>
                  <a:srgbClr val="38BDF8"/>
                </a:solidFill>
                <a:latin typeface="Urbanist SemiBold"/>
                <a:ea typeface="Urbanist SemiBold"/>
                <a:cs typeface="Urbanist SemiBold"/>
                <a:sym typeface="Urbanist SemiBold"/>
              </a:rPr>
              <a:t>Key Features: Customers</a:t>
            </a:r>
            <a:endParaRPr dirty="0"/>
          </a:p>
        </p:txBody>
      </p:sp>
      <p:pic>
        <p:nvPicPr>
          <p:cNvPr id="18" name="Google Shape;133;p17" descr="image.png">
            <a:extLst>
              <a:ext uri="{FF2B5EF4-FFF2-40B4-BE49-F238E27FC236}">
                <a16:creationId xmlns:a16="http://schemas.microsoft.com/office/drawing/2014/main" id="{8C6DD9F0-A2B9-438E-93B6-447D1FDFEEAD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2077836"/>
            <a:ext cx="3492549" cy="3260408"/>
          </a:xfrm>
          <a:prstGeom prst="rect">
            <a:avLst/>
          </a:prstGeom>
          <a:noFill/>
          <a:ln>
            <a:noFill/>
          </a:ln>
        </p:spPr>
      </p:pic>
      <p:pic>
        <p:nvPicPr>
          <p:cNvPr id="19" name="Google Shape;134;p17" descr="image.png">
            <a:extLst>
              <a:ext uri="{FF2B5EF4-FFF2-40B4-BE49-F238E27FC236}">
                <a16:creationId xmlns:a16="http://schemas.microsoft.com/office/drawing/2014/main" id="{2768EE7D-77D7-437D-872E-B93F86A6259F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349799" y="2077836"/>
            <a:ext cx="3492549" cy="3260408"/>
          </a:xfrm>
          <a:prstGeom prst="rect">
            <a:avLst/>
          </a:prstGeom>
          <a:noFill/>
          <a:ln>
            <a:noFill/>
          </a:ln>
        </p:spPr>
      </p:pic>
      <p:pic>
        <p:nvPicPr>
          <p:cNvPr id="20" name="Google Shape;135;p17" descr="image.png">
            <a:extLst>
              <a:ext uri="{FF2B5EF4-FFF2-40B4-BE49-F238E27FC236}">
                <a16:creationId xmlns:a16="http://schemas.microsoft.com/office/drawing/2014/main" id="{5421AFC8-8573-45EE-B7B1-DE12F5F0EC5F}"/>
              </a:ext>
            </a:extLst>
          </p:cNvPr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8128099" y="2077836"/>
            <a:ext cx="3492549" cy="3260408"/>
          </a:xfrm>
          <a:prstGeom prst="rect">
            <a:avLst/>
          </a:prstGeom>
          <a:noFill/>
          <a:ln>
            <a:noFill/>
          </a:ln>
        </p:spPr>
      </p:pic>
      <p:sp>
        <p:nvSpPr>
          <p:cNvPr id="21" name="Google Shape;137;p17">
            <a:extLst>
              <a:ext uri="{FF2B5EF4-FFF2-40B4-BE49-F238E27FC236}">
                <a16:creationId xmlns:a16="http://schemas.microsoft.com/office/drawing/2014/main" id="{DFD608A9-8AFE-4A2E-97BB-30CA7606E74B}"/>
              </a:ext>
            </a:extLst>
          </p:cNvPr>
          <p:cNvSpPr txBox="1"/>
          <p:nvPr/>
        </p:nvSpPr>
        <p:spPr>
          <a:xfrm>
            <a:off x="914400" y="3173211"/>
            <a:ext cx="2947087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 dirty="0">
                <a:solidFill>
                  <a:srgbClr val="818CF8"/>
                </a:solidFill>
                <a:latin typeface="Urbanist SemiBold"/>
                <a:ea typeface="Urbanist SemiBold"/>
                <a:cs typeface="Urbanist SemiBold"/>
                <a:sym typeface="Urbanist SemiBold"/>
              </a:rPr>
              <a:t>User Authentication</a:t>
            </a:r>
            <a:endParaRPr dirty="0"/>
          </a:p>
        </p:txBody>
      </p:sp>
      <p:sp>
        <p:nvSpPr>
          <p:cNvPr id="22" name="Google Shape;138;p17">
            <a:extLst>
              <a:ext uri="{FF2B5EF4-FFF2-40B4-BE49-F238E27FC236}">
                <a16:creationId xmlns:a16="http://schemas.microsoft.com/office/drawing/2014/main" id="{323755BD-98D4-474A-ADC5-0F5B6738ECEE}"/>
              </a:ext>
            </a:extLst>
          </p:cNvPr>
          <p:cNvSpPr txBox="1"/>
          <p:nvPr/>
        </p:nvSpPr>
        <p:spPr>
          <a:xfrm>
            <a:off x="914400" y="3863654"/>
            <a:ext cx="2806749" cy="11079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User registration, login, and session management using Firebase Authentication.</a:t>
            </a:r>
            <a:endParaRPr dirty="0"/>
          </a:p>
        </p:txBody>
      </p:sp>
      <p:sp>
        <p:nvSpPr>
          <p:cNvPr id="23" name="Google Shape;139;p17">
            <a:extLst>
              <a:ext uri="{FF2B5EF4-FFF2-40B4-BE49-F238E27FC236}">
                <a16:creationId xmlns:a16="http://schemas.microsoft.com/office/drawing/2014/main" id="{C7DE5279-6047-4092-9887-8A8EB87CAAF7}"/>
              </a:ext>
            </a:extLst>
          </p:cNvPr>
          <p:cNvSpPr txBox="1"/>
          <p:nvPr/>
        </p:nvSpPr>
        <p:spPr>
          <a:xfrm>
            <a:off x="4692699" y="3173211"/>
            <a:ext cx="2947087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 dirty="0">
                <a:solidFill>
                  <a:srgbClr val="818CF8"/>
                </a:solidFill>
                <a:latin typeface="Urbanist SemiBold"/>
                <a:ea typeface="Urbanist SemiBold"/>
                <a:cs typeface="Urbanist SemiBold"/>
                <a:sym typeface="Urbanist SemiBold"/>
              </a:rPr>
              <a:t>Product Browsing &amp; Search</a:t>
            </a:r>
            <a:endParaRPr dirty="0"/>
          </a:p>
        </p:txBody>
      </p:sp>
      <p:sp>
        <p:nvSpPr>
          <p:cNvPr id="24" name="Google Shape;140;p17">
            <a:extLst>
              <a:ext uri="{FF2B5EF4-FFF2-40B4-BE49-F238E27FC236}">
                <a16:creationId xmlns:a16="http://schemas.microsoft.com/office/drawing/2014/main" id="{7715FA23-A097-44B0-BE5F-8FA64F68D2D3}"/>
              </a:ext>
            </a:extLst>
          </p:cNvPr>
          <p:cNvSpPr txBox="1"/>
          <p:nvPr/>
        </p:nvSpPr>
        <p:spPr>
          <a:xfrm>
            <a:off x="4692699" y="3863654"/>
            <a:ext cx="2806749" cy="11079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Browse products by category, search products, and view detailed product information.</a:t>
            </a:r>
            <a:endParaRPr dirty="0"/>
          </a:p>
        </p:txBody>
      </p:sp>
      <p:sp>
        <p:nvSpPr>
          <p:cNvPr id="25" name="Google Shape;141;p17">
            <a:extLst>
              <a:ext uri="{FF2B5EF4-FFF2-40B4-BE49-F238E27FC236}">
                <a16:creationId xmlns:a16="http://schemas.microsoft.com/office/drawing/2014/main" id="{DFD5C13A-2212-4052-8315-60663FBA71DE}"/>
              </a:ext>
            </a:extLst>
          </p:cNvPr>
          <p:cNvSpPr txBox="1"/>
          <p:nvPr/>
        </p:nvSpPr>
        <p:spPr>
          <a:xfrm>
            <a:off x="8470999" y="3173211"/>
            <a:ext cx="2947087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 dirty="0">
                <a:solidFill>
                  <a:srgbClr val="818CF8"/>
                </a:solidFill>
                <a:latin typeface="Urbanist SemiBold"/>
                <a:ea typeface="Urbanist SemiBold"/>
                <a:cs typeface="Urbanist SemiBold"/>
                <a:sym typeface="Urbanist SemiBold"/>
              </a:rPr>
              <a:t>Cart &amp; Checkout</a:t>
            </a:r>
            <a:endParaRPr dirty="0"/>
          </a:p>
        </p:txBody>
      </p:sp>
      <p:sp>
        <p:nvSpPr>
          <p:cNvPr id="26" name="Google Shape;142;p17">
            <a:extLst>
              <a:ext uri="{FF2B5EF4-FFF2-40B4-BE49-F238E27FC236}">
                <a16:creationId xmlns:a16="http://schemas.microsoft.com/office/drawing/2014/main" id="{A96D11B5-29DA-4863-8C4A-A3D25D916F04}"/>
              </a:ext>
            </a:extLst>
          </p:cNvPr>
          <p:cNvSpPr txBox="1"/>
          <p:nvPr/>
        </p:nvSpPr>
        <p:spPr>
          <a:xfrm>
            <a:off x="8470999" y="3863654"/>
            <a:ext cx="2806749" cy="11079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Manage shopping cart items, complete checkout, and place customer orders.</a:t>
            </a:r>
            <a:endParaRPr dirty="0"/>
          </a:p>
        </p:txBody>
      </p:sp>
      <p:pic>
        <p:nvPicPr>
          <p:cNvPr id="27" name="Google Shape;143;p17" descr="image.png">
            <a:extLst>
              <a:ext uri="{FF2B5EF4-FFF2-40B4-BE49-F238E27FC236}">
                <a16:creationId xmlns:a16="http://schemas.microsoft.com/office/drawing/2014/main" id="{2EECB355-6436-478C-B1C5-329B611ADB10}"/>
              </a:ext>
            </a:extLst>
          </p:cNvPr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914400" y="2468361"/>
            <a:ext cx="523875" cy="419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8" name="Google Shape;144;p17" descr="image.png">
            <a:extLst>
              <a:ext uri="{FF2B5EF4-FFF2-40B4-BE49-F238E27FC236}">
                <a16:creationId xmlns:a16="http://schemas.microsoft.com/office/drawing/2014/main" id="{452AF3AB-4422-400D-A0AD-758964C140FA}"/>
              </a:ext>
            </a:extLst>
          </p:cNvPr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4692699" y="2468361"/>
            <a:ext cx="419100" cy="419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81B27D7E-BCDA-468C-AD25-25EB8E06185F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470999" y="2468361"/>
            <a:ext cx="419100" cy="419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113565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Google Shape;84;p13" descr="image.png">
            <a:extLst>
              <a:ext uri="{FF2B5EF4-FFF2-40B4-BE49-F238E27FC236}">
                <a16:creationId xmlns:a16="http://schemas.microsoft.com/office/drawing/2014/main" id="{F509F534-3A3F-4840-ACB9-7D52E35868E7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42240" y="-132080"/>
            <a:ext cx="12476480" cy="712216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0" name="Google Shape;150;p18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53" name="Google Shape;153;p18"/>
          <p:cNvSpPr txBox="1"/>
          <p:nvPr/>
        </p:nvSpPr>
        <p:spPr>
          <a:xfrm>
            <a:off x="571500" y="2047875"/>
            <a:ext cx="5200650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 dirty="0">
                <a:solidFill>
                  <a:srgbClr val="818CF8"/>
                </a:solidFill>
                <a:latin typeface="Urbanist SemiBold"/>
                <a:ea typeface="Urbanist SemiBold"/>
                <a:cs typeface="Urbanist SemiBold"/>
                <a:sym typeface="Urbanist SemiBold"/>
              </a:rPr>
              <a:t>Administrative Features</a:t>
            </a:r>
            <a:endParaRPr dirty="0"/>
          </a:p>
        </p:txBody>
      </p:sp>
      <p:sp>
        <p:nvSpPr>
          <p:cNvPr id="154" name="Google Shape;154;p18"/>
          <p:cNvSpPr txBox="1"/>
          <p:nvPr/>
        </p:nvSpPr>
        <p:spPr>
          <a:xfrm>
            <a:off x="571500" y="2486025"/>
            <a:ext cx="4953000" cy="11079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A centralized dashboard that enables administrators to manage products, categories, orders, users, and system data efficiently.</a:t>
            </a:r>
            <a:endParaRPr dirty="0"/>
          </a:p>
        </p:txBody>
      </p:sp>
      <p:sp>
        <p:nvSpPr>
          <p:cNvPr id="155" name="Google Shape;155;p18"/>
          <p:cNvSpPr txBox="1"/>
          <p:nvPr/>
        </p:nvSpPr>
        <p:spPr>
          <a:xfrm>
            <a:off x="571500" y="3594021"/>
            <a:ext cx="4524375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285750" marR="0" lvl="0" indent="-28575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Font typeface="Arial" panose="020B0604020202020204" pitchFamily="34" charset="0"/>
              <a:buChar char="•"/>
            </a:pPr>
            <a:r>
              <a:rPr lang="en-US" sz="1500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Product &amp; Category Management</a:t>
            </a:r>
            <a:endParaRPr dirty="0"/>
          </a:p>
        </p:txBody>
      </p:sp>
      <p:sp>
        <p:nvSpPr>
          <p:cNvPr id="156" name="Google Shape;156;p18"/>
          <p:cNvSpPr txBox="1"/>
          <p:nvPr/>
        </p:nvSpPr>
        <p:spPr>
          <a:xfrm>
            <a:off x="571500" y="4136946"/>
            <a:ext cx="4524375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285750" marR="0" lvl="0" indent="-28575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Font typeface="Arial" panose="020B0604020202020204" pitchFamily="34" charset="0"/>
              <a:buChar char="•"/>
            </a:pPr>
            <a:r>
              <a:rPr lang="en-US" sz="1500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Product &amp; Category Seeding from Platzi API</a:t>
            </a:r>
            <a:endParaRPr dirty="0"/>
          </a:p>
        </p:txBody>
      </p:sp>
      <p:sp>
        <p:nvSpPr>
          <p:cNvPr id="157" name="Google Shape;157;p18"/>
          <p:cNvSpPr txBox="1"/>
          <p:nvPr/>
        </p:nvSpPr>
        <p:spPr>
          <a:xfrm>
            <a:off x="571500" y="4679871"/>
            <a:ext cx="4524375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285750" marR="0" lvl="0" indent="-28575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Font typeface="Arial" panose="020B0604020202020204" pitchFamily="34" charset="0"/>
              <a:buChar char="•"/>
            </a:pPr>
            <a:r>
              <a:rPr lang="en-US" sz="1500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Order Management &amp; Status Updates</a:t>
            </a:r>
            <a:endParaRPr dirty="0"/>
          </a:p>
        </p:txBody>
      </p:sp>
      <p:sp>
        <p:nvSpPr>
          <p:cNvPr id="158" name="Google Shape;158;p18"/>
          <p:cNvSpPr txBox="1"/>
          <p:nvPr/>
        </p:nvSpPr>
        <p:spPr>
          <a:xfrm>
            <a:off x="571500" y="5222796"/>
            <a:ext cx="4524375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285750" marR="0" lvl="0" indent="-28575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Font typeface="Arial" panose="020B0604020202020204" pitchFamily="34" charset="0"/>
              <a:buChar char="•"/>
            </a:pPr>
            <a:r>
              <a:rPr lang="en-US" sz="1500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Database Backup &amp; Restore</a:t>
            </a:r>
            <a:endParaRPr dirty="0"/>
          </a:p>
        </p:txBody>
      </p:sp>
      <p:sp>
        <p:nvSpPr>
          <p:cNvPr id="16" name="Google Shape;158;p18">
            <a:extLst>
              <a:ext uri="{FF2B5EF4-FFF2-40B4-BE49-F238E27FC236}">
                <a16:creationId xmlns:a16="http://schemas.microsoft.com/office/drawing/2014/main" id="{E47133AA-62FB-4AE2-A571-DB2FAFFDA1CC}"/>
              </a:ext>
            </a:extLst>
          </p:cNvPr>
          <p:cNvSpPr txBox="1"/>
          <p:nvPr/>
        </p:nvSpPr>
        <p:spPr>
          <a:xfrm>
            <a:off x="571500" y="5765721"/>
            <a:ext cx="4524375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285750" marR="0" lvl="0" indent="-28575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Font typeface="Arial" panose="020B0604020202020204" pitchFamily="34" charset="0"/>
              <a:buChar char="•"/>
            </a:pPr>
            <a:r>
              <a:rPr lang="en-US" sz="1500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User Management</a:t>
            </a:r>
            <a:endParaRPr dirty="0"/>
          </a:p>
        </p:txBody>
      </p:sp>
      <p:sp>
        <p:nvSpPr>
          <p:cNvPr id="12" name="Google Shape;136;p17">
            <a:extLst>
              <a:ext uri="{FF2B5EF4-FFF2-40B4-BE49-F238E27FC236}">
                <a16:creationId xmlns:a16="http://schemas.microsoft.com/office/drawing/2014/main" id="{3B47AB38-9B2F-4C3D-84AB-20360B30E46A}"/>
              </a:ext>
            </a:extLst>
          </p:cNvPr>
          <p:cNvSpPr txBox="1"/>
          <p:nvPr/>
        </p:nvSpPr>
        <p:spPr>
          <a:xfrm>
            <a:off x="571500" y="571500"/>
            <a:ext cx="11601450" cy="552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0" i="0" u="none" strike="noStrike" cap="none" dirty="0">
                <a:solidFill>
                  <a:srgbClr val="38BDF8"/>
                </a:solidFill>
                <a:latin typeface="Urbanist SemiBold"/>
                <a:ea typeface="Urbanist SemiBold"/>
                <a:cs typeface="Urbanist SemiBold"/>
                <a:sym typeface="Urbanist SemiBold"/>
              </a:rPr>
              <a:t>Admin Dashboard</a:t>
            </a:r>
            <a:endParaRPr lang="en-US" sz="3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Google Shape;84;p13" descr="image.png">
            <a:extLst>
              <a:ext uri="{FF2B5EF4-FFF2-40B4-BE49-F238E27FC236}">
                <a16:creationId xmlns:a16="http://schemas.microsoft.com/office/drawing/2014/main" id="{5ECD4FCB-B471-4A37-8880-828EB7E03D9D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42240" y="-132080"/>
            <a:ext cx="12476480" cy="7122160"/>
          </a:xfrm>
          <a:prstGeom prst="rect">
            <a:avLst/>
          </a:prstGeom>
          <a:noFill/>
          <a:ln>
            <a:noFill/>
          </a:ln>
        </p:spPr>
      </p:pic>
      <p:pic>
        <p:nvPicPr>
          <p:cNvPr id="167" name="Google Shape;167;p19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68" name="Google Shape;168;p19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2546465"/>
            <a:ext cx="3492549" cy="2889019"/>
          </a:xfrm>
          <a:prstGeom prst="rect">
            <a:avLst/>
          </a:prstGeom>
          <a:noFill/>
          <a:ln>
            <a:noFill/>
          </a:ln>
        </p:spPr>
      </p:pic>
      <p:pic>
        <p:nvPicPr>
          <p:cNvPr id="169" name="Google Shape;169;p19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349799" y="2546465"/>
            <a:ext cx="3492549" cy="2889019"/>
          </a:xfrm>
          <a:prstGeom prst="rect">
            <a:avLst/>
          </a:prstGeom>
          <a:noFill/>
          <a:ln>
            <a:noFill/>
          </a:ln>
        </p:spPr>
      </p:pic>
      <p:pic>
        <p:nvPicPr>
          <p:cNvPr id="170" name="Google Shape;170;p19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8128099" y="2546465"/>
            <a:ext cx="3492549" cy="2889019"/>
          </a:xfrm>
          <a:prstGeom prst="rect">
            <a:avLst/>
          </a:prstGeom>
          <a:noFill/>
          <a:ln>
            <a:noFill/>
          </a:ln>
        </p:spPr>
      </p:pic>
      <p:sp>
        <p:nvSpPr>
          <p:cNvPr id="171" name="Google Shape;171;p19"/>
          <p:cNvSpPr txBox="1"/>
          <p:nvPr/>
        </p:nvSpPr>
        <p:spPr>
          <a:xfrm>
            <a:off x="571500" y="571500"/>
            <a:ext cx="11601450" cy="552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0" i="0" u="none" strike="noStrike" cap="none">
                <a:solidFill>
                  <a:srgbClr val="38BDF8"/>
                </a:solidFill>
                <a:latin typeface="Urbanist SemiBold"/>
                <a:ea typeface="Urbanist SemiBold"/>
                <a:cs typeface="Urbanist SemiBold"/>
                <a:sym typeface="Urbanist SemiBold"/>
              </a:rPr>
              <a:t>Technology Stack</a:t>
            </a:r>
            <a:endParaRPr/>
          </a:p>
        </p:txBody>
      </p:sp>
      <p:sp>
        <p:nvSpPr>
          <p:cNvPr id="172" name="Google Shape;172;p19"/>
          <p:cNvSpPr txBox="1"/>
          <p:nvPr/>
        </p:nvSpPr>
        <p:spPr>
          <a:xfrm>
            <a:off x="844231" y="3641840"/>
            <a:ext cx="2947087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 dirty="0">
                <a:solidFill>
                  <a:srgbClr val="818CF8"/>
                </a:solidFill>
                <a:latin typeface="Urbanist SemiBold"/>
                <a:ea typeface="Urbanist SemiBold"/>
                <a:cs typeface="Urbanist SemiBold"/>
                <a:sym typeface="Urbanist SemiBold"/>
              </a:rPr>
              <a:t>Frontend Technologies</a:t>
            </a:r>
            <a:endParaRPr dirty="0"/>
          </a:p>
        </p:txBody>
      </p:sp>
      <p:sp>
        <p:nvSpPr>
          <p:cNvPr id="173" name="Google Shape;173;p19"/>
          <p:cNvSpPr txBox="1"/>
          <p:nvPr/>
        </p:nvSpPr>
        <p:spPr>
          <a:xfrm>
            <a:off x="914400" y="4051588"/>
            <a:ext cx="2806749" cy="11079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Used to build responsive user interfaces and manage application state efficiently.</a:t>
            </a:r>
            <a:endParaRPr dirty="0"/>
          </a:p>
        </p:txBody>
      </p:sp>
      <p:sp>
        <p:nvSpPr>
          <p:cNvPr id="174" name="Google Shape;174;p19"/>
          <p:cNvSpPr txBox="1"/>
          <p:nvPr/>
        </p:nvSpPr>
        <p:spPr>
          <a:xfrm>
            <a:off x="4622530" y="3641840"/>
            <a:ext cx="2947087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 dirty="0">
                <a:solidFill>
                  <a:srgbClr val="818CF8"/>
                </a:solidFill>
                <a:latin typeface="Urbanist SemiBold"/>
                <a:ea typeface="Urbanist SemiBold"/>
                <a:cs typeface="Urbanist SemiBold"/>
                <a:sym typeface="Urbanist SemiBold"/>
              </a:rPr>
              <a:t>Firebase Service</a:t>
            </a:r>
            <a:endParaRPr dirty="0"/>
          </a:p>
        </p:txBody>
      </p:sp>
      <p:sp>
        <p:nvSpPr>
          <p:cNvPr id="175" name="Google Shape;175;p19"/>
          <p:cNvSpPr txBox="1"/>
          <p:nvPr/>
        </p:nvSpPr>
        <p:spPr>
          <a:xfrm>
            <a:off x="4692699" y="4079990"/>
            <a:ext cx="2806749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Provides secure authentication and cloud-based data storage.</a:t>
            </a:r>
            <a:endParaRPr dirty="0"/>
          </a:p>
        </p:txBody>
      </p:sp>
      <p:sp>
        <p:nvSpPr>
          <p:cNvPr id="176" name="Google Shape;176;p19"/>
          <p:cNvSpPr txBox="1"/>
          <p:nvPr/>
        </p:nvSpPr>
        <p:spPr>
          <a:xfrm>
            <a:off x="8400830" y="3641840"/>
            <a:ext cx="2947087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 dirty="0">
                <a:solidFill>
                  <a:srgbClr val="818CF8"/>
                </a:solidFill>
                <a:latin typeface="Urbanist SemiBold"/>
                <a:ea typeface="Urbanist SemiBold"/>
                <a:cs typeface="Urbanist SemiBold"/>
                <a:sym typeface="Urbanist SemiBold"/>
              </a:rPr>
              <a:t>Deployment &amp; Routing</a:t>
            </a:r>
            <a:endParaRPr dirty="0"/>
          </a:p>
        </p:txBody>
      </p:sp>
      <p:sp>
        <p:nvSpPr>
          <p:cNvPr id="177" name="Google Shape;177;p19"/>
          <p:cNvSpPr txBox="1"/>
          <p:nvPr/>
        </p:nvSpPr>
        <p:spPr>
          <a:xfrm>
            <a:off x="8470999" y="4079990"/>
            <a:ext cx="2806749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Supports client-side navigation and fast web deployment.</a:t>
            </a:r>
            <a:endParaRPr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F9CF58E9-B6F1-4E24-ACD8-455CF49D1A5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64749" y="2889365"/>
            <a:ext cx="466725" cy="466725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5DC07366-ED80-4228-8BD9-95E9487D206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084411" y="2889365"/>
            <a:ext cx="466725" cy="46672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E3E135A-0757-4FC1-8268-4F5B47EB2728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798473" y="2820438"/>
            <a:ext cx="595054" cy="59505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E60DFA7-F6FA-4FB0-8234-9A31AB79A242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262412" y="2889365"/>
            <a:ext cx="466724" cy="46672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2389665C-5512-4B5D-A4D7-DDFF83E8FD97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900978" y="2889364"/>
            <a:ext cx="466723" cy="466723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Google Shape;84;p13" descr="image.png">
            <a:extLst>
              <a:ext uri="{FF2B5EF4-FFF2-40B4-BE49-F238E27FC236}">
                <a16:creationId xmlns:a16="http://schemas.microsoft.com/office/drawing/2014/main" id="{B12C22D1-AE6E-4331-94F8-A8C68B6D2778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42240" y="-132080"/>
            <a:ext cx="12476480" cy="7122160"/>
          </a:xfrm>
          <a:prstGeom prst="rect">
            <a:avLst/>
          </a:prstGeom>
          <a:noFill/>
          <a:ln>
            <a:noFill/>
          </a:ln>
        </p:spPr>
      </p:pic>
      <p:pic>
        <p:nvPicPr>
          <p:cNvPr id="185" name="Google Shape;185;p20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87" name="Google Shape;187;p20"/>
          <p:cNvSpPr txBox="1"/>
          <p:nvPr/>
        </p:nvSpPr>
        <p:spPr>
          <a:xfrm>
            <a:off x="571500" y="571500"/>
            <a:ext cx="11601450" cy="552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0" i="0" u="none" strike="noStrike" cap="none">
                <a:solidFill>
                  <a:srgbClr val="38BDF8"/>
                </a:solidFill>
                <a:latin typeface="Urbanist SemiBold"/>
                <a:ea typeface="Urbanist SemiBold"/>
                <a:cs typeface="Urbanist SemiBold"/>
                <a:sym typeface="Urbanist SemiBold"/>
              </a:rPr>
              <a:t>System Architecture</a:t>
            </a:r>
            <a:endParaRPr/>
          </a:p>
        </p:txBody>
      </p:sp>
      <p:sp>
        <p:nvSpPr>
          <p:cNvPr id="188" name="Google Shape;188;p20"/>
          <p:cNvSpPr txBox="1"/>
          <p:nvPr/>
        </p:nvSpPr>
        <p:spPr>
          <a:xfrm>
            <a:off x="571500" y="1695450"/>
            <a:ext cx="5500687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 dirty="0">
                <a:solidFill>
                  <a:srgbClr val="818CF8"/>
                </a:solidFill>
                <a:latin typeface="Urbanist SemiBold"/>
                <a:ea typeface="Urbanist SemiBold"/>
                <a:cs typeface="Urbanist SemiBold"/>
                <a:sym typeface="Urbanist SemiBold"/>
              </a:rPr>
              <a:t>Architecture Overview</a:t>
            </a:r>
            <a:endParaRPr dirty="0"/>
          </a:p>
        </p:txBody>
      </p:sp>
      <p:sp>
        <p:nvSpPr>
          <p:cNvPr id="189" name="Google Shape;189;p20"/>
          <p:cNvSpPr txBox="1"/>
          <p:nvPr/>
        </p:nvSpPr>
        <p:spPr>
          <a:xfrm>
            <a:off x="571500" y="2133600"/>
            <a:ext cx="5238750" cy="11079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Marketly follows a layered architecture that separates the user interface, state management, and external services to improve maintainability and scalability.</a:t>
            </a:r>
            <a:endParaRPr dirty="0"/>
          </a:p>
        </p:txBody>
      </p:sp>
      <p:sp>
        <p:nvSpPr>
          <p:cNvPr id="191" name="Google Shape;191;p20"/>
          <p:cNvSpPr txBox="1"/>
          <p:nvPr/>
        </p:nvSpPr>
        <p:spPr>
          <a:xfrm>
            <a:off x="581026" y="3238651"/>
            <a:ext cx="4810125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285750" lvl="1" indent="-285750">
              <a:lnSpc>
                <a:spcPct val="160000"/>
              </a:lnSpc>
              <a:buClr>
                <a:srgbClr val="94A3B8"/>
              </a:buClr>
              <a:buFont typeface="Arial" panose="020B0604020202020204" pitchFamily="34" charset="0"/>
              <a:buChar char="•"/>
            </a:pPr>
            <a:r>
              <a:rPr lang="en-US" sz="1500" b="1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Presentation Layer:</a:t>
            </a:r>
          </a:p>
          <a:p>
            <a:pPr lvl="3">
              <a:lnSpc>
                <a:spcPct val="160000"/>
              </a:lnSpc>
              <a:buClr>
                <a:srgbClr val="94A3B8"/>
              </a:buClr>
            </a:pPr>
            <a:r>
              <a:rPr lang="en-US" sz="1500" b="1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            React Components &amp; User Interface</a:t>
            </a:r>
            <a:endParaRPr dirty="0"/>
          </a:p>
        </p:txBody>
      </p:sp>
      <p:sp>
        <p:nvSpPr>
          <p:cNvPr id="192" name="Google Shape;192;p20"/>
          <p:cNvSpPr txBox="1"/>
          <p:nvPr/>
        </p:nvSpPr>
        <p:spPr>
          <a:xfrm>
            <a:off x="581026" y="3977315"/>
            <a:ext cx="5491161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285750" marR="0" lvl="0" indent="-28575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Font typeface="Arial" panose="020B0604020202020204" pitchFamily="34" charset="0"/>
              <a:buChar char="•"/>
            </a:pPr>
            <a:r>
              <a:rPr lang="en-US" sz="1500" b="1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State Management Layer:</a:t>
            </a:r>
          </a:p>
          <a:p>
            <a:pPr marR="0" lvl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94A3B8"/>
              </a:buClr>
            </a:pPr>
            <a:r>
              <a:rPr lang="en-US" sz="1500" b="1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            Redux Toolkit Store &amp; Slices</a:t>
            </a:r>
            <a:endParaRPr lang="en-US" b="1" dirty="0"/>
          </a:p>
        </p:txBody>
      </p:sp>
      <p:sp>
        <p:nvSpPr>
          <p:cNvPr id="193" name="Google Shape;193;p20"/>
          <p:cNvSpPr txBox="1"/>
          <p:nvPr/>
        </p:nvSpPr>
        <p:spPr>
          <a:xfrm>
            <a:off x="581026" y="4715979"/>
            <a:ext cx="4810125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285750" marR="0" lvl="0" indent="-28575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Font typeface="Arial" panose="020B0604020202020204" pitchFamily="34" charset="0"/>
              <a:buChar char="•"/>
            </a:pPr>
            <a:r>
              <a:rPr lang="en-US" sz="1500" b="1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Cloud Services Layer:</a:t>
            </a:r>
          </a:p>
          <a:p>
            <a:pPr marR="0" lvl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94A3B8"/>
              </a:buClr>
            </a:pPr>
            <a:r>
              <a:rPr lang="en-US" sz="1500" b="1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            Firebase Authentication &amp; Cloud Firestore</a:t>
            </a:r>
            <a:endParaRPr b="1" dirty="0"/>
          </a:p>
        </p:txBody>
      </p:sp>
      <p:sp>
        <p:nvSpPr>
          <p:cNvPr id="14" name="Google Shape;193;p20">
            <a:extLst>
              <a:ext uri="{FF2B5EF4-FFF2-40B4-BE49-F238E27FC236}">
                <a16:creationId xmlns:a16="http://schemas.microsoft.com/office/drawing/2014/main" id="{3610E942-8996-4301-9C00-6B8EA84CF71D}"/>
              </a:ext>
            </a:extLst>
          </p:cNvPr>
          <p:cNvSpPr txBox="1"/>
          <p:nvPr/>
        </p:nvSpPr>
        <p:spPr>
          <a:xfrm>
            <a:off x="581025" y="5454643"/>
            <a:ext cx="4810125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285750" marR="0" lvl="0" indent="-28575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Font typeface="Arial" panose="020B0604020202020204" pitchFamily="34" charset="0"/>
              <a:buChar char="•"/>
            </a:pPr>
            <a:r>
              <a:rPr lang="en-US" sz="1500" b="1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External Data Layer:</a:t>
            </a:r>
          </a:p>
          <a:p>
            <a:pPr marR="0" lvl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94A3B8"/>
              </a:buClr>
            </a:pPr>
            <a:r>
              <a:rPr lang="en-US" sz="1500" b="1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            Platzi API for Product Seeding</a:t>
            </a:r>
            <a:endParaRPr b="1" dirty="0"/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64BE9A65-BC5E-4DD1-A4AA-6C4EB0474CD8}"/>
              </a:ext>
            </a:extLst>
          </p:cNvPr>
          <p:cNvSpPr/>
          <p:nvPr/>
        </p:nvSpPr>
        <p:spPr>
          <a:xfrm>
            <a:off x="6966628" y="1263534"/>
            <a:ext cx="4330931" cy="4330931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80633C70-5F65-4B91-AE09-705C2874ADE3}"/>
              </a:ext>
            </a:extLst>
          </p:cNvPr>
          <p:cNvSpPr/>
          <p:nvPr/>
        </p:nvSpPr>
        <p:spPr>
          <a:xfrm>
            <a:off x="8454606" y="1695450"/>
            <a:ext cx="1354975" cy="53236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Users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3CFFF3AE-66CF-43E3-90E1-2F1BC30039C4}"/>
              </a:ext>
            </a:extLst>
          </p:cNvPr>
          <p:cNvSpPr/>
          <p:nvPr/>
        </p:nvSpPr>
        <p:spPr>
          <a:xfrm>
            <a:off x="8372039" y="2682413"/>
            <a:ext cx="1520108" cy="53236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React Frontend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DD72BE6C-AEF0-4FC8-9508-586DE819C5F7}"/>
              </a:ext>
            </a:extLst>
          </p:cNvPr>
          <p:cNvSpPr/>
          <p:nvPr/>
        </p:nvSpPr>
        <p:spPr>
          <a:xfrm>
            <a:off x="8180848" y="3565468"/>
            <a:ext cx="1902492" cy="53236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Redux Toolkit Store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9595B864-8F76-4C42-B8EF-F83162ED26D7}"/>
              </a:ext>
            </a:extLst>
          </p:cNvPr>
          <p:cNvSpPr/>
          <p:nvPr/>
        </p:nvSpPr>
        <p:spPr>
          <a:xfrm>
            <a:off x="7512233" y="4647161"/>
            <a:ext cx="1719612" cy="53236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Firebase Services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8A816110-7121-4F27-8636-E52D75CD016D}"/>
              </a:ext>
            </a:extLst>
          </p:cNvPr>
          <p:cNvSpPr/>
          <p:nvPr/>
        </p:nvSpPr>
        <p:spPr>
          <a:xfrm>
            <a:off x="9618796" y="4647161"/>
            <a:ext cx="1063512" cy="53236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Platzi API</a:t>
            </a:r>
          </a:p>
        </p:txBody>
      </p:sp>
      <p:cxnSp>
        <p:nvCxnSpPr>
          <p:cNvPr id="5" name="Connector: Elbow 4">
            <a:extLst>
              <a:ext uri="{FF2B5EF4-FFF2-40B4-BE49-F238E27FC236}">
                <a16:creationId xmlns:a16="http://schemas.microsoft.com/office/drawing/2014/main" id="{43476F59-94F2-4546-809E-97A1A8B6675D}"/>
              </a:ext>
            </a:extLst>
          </p:cNvPr>
          <p:cNvCxnSpPr>
            <a:stCxn id="3" idx="2"/>
            <a:endCxn id="13" idx="0"/>
          </p:cNvCxnSpPr>
          <p:nvPr/>
        </p:nvCxnSpPr>
        <p:spPr>
          <a:xfrm rot="5400000">
            <a:off x="8904793" y="2455112"/>
            <a:ext cx="454602" cy="1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D41B771F-0819-4D30-8FCA-7467F9544DD9}"/>
              </a:ext>
            </a:extLst>
          </p:cNvPr>
          <p:cNvCxnSpPr>
            <a:stCxn id="13" idx="2"/>
            <a:endCxn id="15" idx="0"/>
          </p:cNvCxnSpPr>
          <p:nvPr/>
        </p:nvCxnSpPr>
        <p:spPr>
          <a:xfrm>
            <a:off x="9132093" y="3214774"/>
            <a:ext cx="1" cy="3506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Connector: Elbow 8">
            <a:extLst>
              <a:ext uri="{FF2B5EF4-FFF2-40B4-BE49-F238E27FC236}">
                <a16:creationId xmlns:a16="http://schemas.microsoft.com/office/drawing/2014/main" id="{FB595CCF-CA9C-43A4-8D90-FB55C7C26B6F}"/>
              </a:ext>
            </a:extLst>
          </p:cNvPr>
          <p:cNvCxnSpPr>
            <a:stCxn id="15" idx="2"/>
            <a:endCxn id="16" idx="0"/>
          </p:cNvCxnSpPr>
          <p:nvPr/>
        </p:nvCxnSpPr>
        <p:spPr>
          <a:xfrm rot="5400000">
            <a:off x="8477401" y="3992468"/>
            <a:ext cx="549332" cy="760055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onnector: Elbow 10">
            <a:extLst>
              <a:ext uri="{FF2B5EF4-FFF2-40B4-BE49-F238E27FC236}">
                <a16:creationId xmlns:a16="http://schemas.microsoft.com/office/drawing/2014/main" id="{690735A7-F68C-45C1-BC61-F40382504BD5}"/>
              </a:ext>
            </a:extLst>
          </p:cNvPr>
          <p:cNvCxnSpPr>
            <a:stCxn id="15" idx="2"/>
            <a:endCxn id="17" idx="0"/>
          </p:cNvCxnSpPr>
          <p:nvPr/>
        </p:nvCxnSpPr>
        <p:spPr>
          <a:xfrm rot="16200000" flipH="1">
            <a:off x="9366657" y="3863266"/>
            <a:ext cx="549332" cy="1018458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84;p13" descr="image.png">
            <a:extLst>
              <a:ext uri="{FF2B5EF4-FFF2-40B4-BE49-F238E27FC236}">
                <a16:creationId xmlns:a16="http://schemas.microsoft.com/office/drawing/2014/main" id="{A95449FF-2D93-49D3-9D84-870C0A32FE8B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42240" y="-132080"/>
            <a:ext cx="12476480" cy="712216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1" name="Google Shape;201;p21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02" name="Google Shape;202;p21"/>
          <p:cNvSpPr txBox="1"/>
          <p:nvPr/>
        </p:nvSpPr>
        <p:spPr>
          <a:xfrm>
            <a:off x="571500" y="571500"/>
            <a:ext cx="11601450" cy="552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0" i="0" u="none" strike="noStrike" cap="none" dirty="0">
                <a:solidFill>
                  <a:srgbClr val="38BDF8"/>
                </a:solidFill>
                <a:latin typeface="Urbanist SemiBold"/>
                <a:ea typeface="Urbanist SemiBold"/>
                <a:cs typeface="Urbanist SemiBold"/>
                <a:sym typeface="Urbanist SemiBold"/>
              </a:rPr>
              <a:t>Database Design (Cloud Firestore)</a:t>
            </a:r>
            <a:endParaRPr dirty="0"/>
          </a:p>
        </p:txBody>
      </p:sp>
      <p:graphicFrame>
        <p:nvGraphicFramePr>
          <p:cNvPr id="203" name="Google Shape;203;p21"/>
          <p:cNvGraphicFramePr/>
          <p:nvPr>
            <p:extLst>
              <p:ext uri="{D42A27DB-BD31-4B8C-83A1-F6EECF244321}">
                <p14:modId xmlns:p14="http://schemas.microsoft.com/office/powerpoint/2010/main" val="1979227657"/>
              </p:ext>
            </p:extLst>
          </p:nvPr>
        </p:nvGraphicFramePr>
        <p:xfrm>
          <a:off x="571500" y="2166938"/>
          <a:ext cx="11049000" cy="3124250"/>
        </p:xfrm>
        <a:graphic>
          <a:graphicData uri="http://schemas.openxmlformats.org/drawingml/2006/table">
            <a:tbl>
              <a:tblPr firstRow="1" bandRow="1">
                <a:noFill/>
                <a:tableStyleId>{F9CDF40D-BEBB-4C7A-80F6-6362EFB91E30}</a:tableStyleId>
              </a:tblPr>
              <a:tblGrid>
                <a:gridCol w="19181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355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795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248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50" b="1" i="0" u="none" strike="noStrike" cap="none" dirty="0">
                          <a:solidFill>
                            <a:srgbClr val="38BDF8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Collection</a:t>
                      </a:r>
                      <a:endParaRPr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5304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50" b="1" i="0" u="none" strike="noStrike" cap="none" dirty="0">
                          <a:solidFill>
                            <a:srgbClr val="38BDF8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Key Fields</a:t>
                      </a:r>
                      <a:endParaRPr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5304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50" b="1" i="0" u="none" strike="noStrike" cap="none" dirty="0">
                          <a:solidFill>
                            <a:srgbClr val="38BDF8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Purpose</a:t>
                      </a:r>
                      <a:endParaRPr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5304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248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i="0" u="none" strike="noStrike" cap="none" dirty="0">
                          <a:solidFill>
                            <a:srgbClr val="CBD5E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Users</a:t>
                      </a:r>
                      <a:endParaRPr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FD7E7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 dirty="0">
                          <a:solidFill>
                            <a:srgbClr val="CBD5E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uid, name, email, role</a:t>
                      </a:r>
                      <a:endParaRPr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FD7E7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 dirty="0">
                          <a:solidFill>
                            <a:srgbClr val="CBD5E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User account management</a:t>
                      </a:r>
                      <a:endParaRPr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FD7E7">
                        <a:alpha val="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248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i="0" u="none" strike="noStrike" cap="none" dirty="0">
                          <a:solidFill>
                            <a:srgbClr val="CBD5E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Products</a:t>
                      </a:r>
                      <a:endParaRPr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8ECF4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 dirty="0">
                          <a:solidFill>
                            <a:srgbClr val="CBD5E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productId, title, price, categoryId</a:t>
                      </a:r>
                      <a:endParaRPr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8ECF4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 dirty="0">
                          <a:solidFill>
                            <a:srgbClr val="CBD5E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Product catalog management</a:t>
                      </a:r>
                      <a:endParaRPr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8ECF4">
                        <a:alpha val="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248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i="0" u="none" strike="noStrike" cap="none" dirty="0">
                          <a:solidFill>
                            <a:srgbClr val="CBD5E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Orders</a:t>
                      </a:r>
                      <a:endParaRPr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FD7E7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 dirty="0">
                          <a:solidFill>
                            <a:srgbClr val="CBD5E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orderId, total, status, createdAt</a:t>
                      </a:r>
                      <a:endParaRPr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FD7E7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 dirty="0">
                          <a:solidFill>
                            <a:srgbClr val="CBD5E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Order processing and status tracking</a:t>
                      </a:r>
                      <a:endParaRPr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FD7E7">
                        <a:alpha val="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248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i="0" u="none" strike="noStrike" cap="none" dirty="0">
                          <a:solidFill>
                            <a:srgbClr val="CBD5E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Categories</a:t>
                      </a:r>
                      <a:endParaRPr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8ECF4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 dirty="0">
                          <a:solidFill>
                            <a:srgbClr val="CBD5E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categoryId, name</a:t>
                      </a:r>
                      <a:endParaRPr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8ECF4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 dirty="0">
                          <a:solidFill>
                            <a:srgbClr val="CBD5E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Product organization</a:t>
                      </a:r>
                      <a:endParaRPr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8ECF4">
                        <a:alpha val="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04" name="Google Shape;204;p21"/>
          <p:cNvSpPr/>
          <p:nvPr/>
        </p:nvSpPr>
        <p:spPr>
          <a:xfrm>
            <a:off x="571500" y="2786063"/>
            <a:ext cx="1918096" cy="1905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21"/>
          <p:cNvSpPr/>
          <p:nvPr/>
        </p:nvSpPr>
        <p:spPr>
          <a:xfrm>
            <a:off x="2489596" y="2786063"/>
            <a:ext cx="4335512" cy="1905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21"/>
          <p:cNvSpPr/>
          <p:nvPr/>
        </p:nvSpPr>
        <p:spPr>
          <a:xfrm>
            <a:off x="6825108" y="2786063"/>
            <a:ext cx="4795391" cy="1905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7" name="Google Shape;207;p21"/>
          <p:cNvSpPr/>
          <p:nvPr/>
        </p:nvSpPr>
        <p:spPr>
          <a:xfrm>
            <a:off x="571500" y="3419475"/>
            <a:ext cx="1918096" cy="9525"/>
          </a:xfrm>
          <a:prstGeom prst="rect">
            <a:avLst/>
          </a:prstGeom>
          <a:solidFill>
            <a:srgbClr val="94A3B8">
              <a:alpha val="20000"/>
            </a:srgb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8" name="Google Shape;208;p21"/>
          <p:cNvSpPr/>
          <p:nvPr/>
        </p:nvSpPr>
        <p:spPr>
          <a:xfrm>
            <a:off x="2489596" y="3419475"/>
            <a:ext cx="4335512" cy="9525"/>
          </a:xfrm>
          <a:prstGeom prst="rect">
            <a:avLst/>
          </a:prstGeom>
          <a:solidFill>
            <a:srgbClr val="94A3B8">
              <a:alpha val="20000"/>
            </a:srgb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9" name="Google Shape;209;p21"/>
          <p:cNvSpPr/>
          <p:nvPr/>
        </p:nvSpPr>
        <p:spPr>
          <a:xfrm>
            <a:off x="6825108" y="3419475"/>
            <a:ext cx="4795391" cy="9525"/>
          </a:xfrm>
          <a:prstGeom prst="rect">
            <a:avLst/>
          </a:prstGeom>
          <a:solidFill>
            <a:srgbClr val="94A3B8">
              <a:alpha val="20000"/>
            </a:srgb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0" name="Google Shape;210;p21"/>
          <p:cNvSpPr/>
          <p:nvPr/>
        </p:nvSpPr>
        <p:spPr>
          <a:xfrm>
            <a:off x="571500" y="4038600"/>
            <a:ext cx="1918096" cy="9525"/>
          </a:xfrm>
          <a:prstGeom prst="rect">
            <a:avLst/>
          </a:prstGeom>
          <a:solidFill>
            <a:srgbClr val="94A3B8">
              <a:alpha val="20000"/>
            </a:srgb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1" name="Google Shape;211;p21"/>
          <p:cNvSpPr/>
          <p:nvPr/>
        </p:nvSpPr>
        <p:spPr>
          <a:xfrm>
            <a:off x="2489596" y="4038600"/>
            <a:ext cx="4335512" cy="9525"/>
          </a:xfrm>
          <a:prstGeom prst="rect">
            <a:avLst/>
          </a:prstGeom>
          <a:solidFill>
            <a:srgbClr val="94A3B8">
              <a:alpha val="20000"/>
            </a:srgb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2" name="Google Shape;212;p21"/>
          <p:cNvSpPr/>
          <p:nvPr/>
        </p:nvSpPr>
        <p:spPr>
          <a:xfrm>
            <a:off x="6825108" y="4038600"/>
            <a:ext cx="4795391" cy="9525"/>
          </a:xfrm>
          <a:prstGeom prst="rect">
            <a:avLst/>
          </a:prstGeom>
          <a:solidFill>
            <a:srgbClr val="94A3B8">
              <a:alpha val="20000"/>
            </a:srgb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21"/>
          <p:cNvSpPr/>
          <p:nvPr/>
        </p:nvSpPr>
        <p:spPr>
          <a:xfrm>
            <a:off x="571500" y="4657725"/>
            <a:ext cx="1918096" cy="9525"/>
          </a:xfrm>
          <a:prstGeom prst="rect">
            <a:avLst/>
          </a:prstGeom>
          <a:solidFill>
            <a:srgbClr val="94A3B8">
              <a:alpha val="20000"/>
            </a:srgb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4" name="Google Shape;214;p21"/>
          <p:cNvSpPr/>
          <p:nvPr/>
        </p:nvSpPr>
        <p:spPr>
          <a:xfrm>
            <a:off x="2489596" y="4657725"/>
            <a:ext cx="4335512" cy="9525"/>
          </a:xfrm>
          <a:prstGeom prst="rect">
            <a:avLst/>
          </a:prstGeom>
          <a:solidFill>
            <a:srgbClr val="94A3B8">
              <a:alpha val="20000"/>
            </a:srgb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5" name="Google Shape;215;p21"/>
          <p:cNvSpPr/>
          <p:nvPr/>
        </p:nvSpPr>
        <p:spPr>
          <a:xfrm>
            <a:off x="6825108" y="4657725"/>
            <a:ext cx="4795391" cy="9525"/>
          </a:xfrm>
          <a:prstGeom prst="rect">
            <a:avLst/>
          </a:prstGeom>
          <a:solidFill>
            <a:srgbClr val="94A3B8">
              <a:alpha val="20000"/>
            </a:srgb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6" name="Google Shape;216;p21"/>
          <p:cNvSpPr/>
          <p:nvPr/>
        </p:nvSpPr>
        <p:spPr>
          <a:xfrm>
            <a:off x="571500" y="5276850"/>
            <a:ext cx="1918096" cy="9525"/>
          </a:xfrm>
          <a:prstGeom prst="rect">
            <a:avLst/>
          </a:prstGeom>
          <a:solidFill>
            <a:srgbClr val="94A3B8">
              <a:alpha val="20000"/>
            </a:srgb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7" name="Google Shape;217;p21"/>
          <p:cNvSpPr/>
          <p:nvPr/>
        </p:nvSpPr>
        <p:spPr>
          <a:xfrm>
            <a:off x="2489596" y="5276850"/>
            <a:ext cx="4335512" cy="9525"/>
          </a:xfrm>
          <a:prstGeom prst="rect">
            <a:avLst/>
          </a:prstGeom>
          <a:solidFill>
            <a:srgbClr val="94A3B8">
              <a:alpha val="20000"/>
            </a:srgb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8" name="Google Shape;218;p21"/>
          <p:cNvSpPr/>
          <p:nvPr/>
        </p:nvSpPr>
        <p:spPr>
          <a:xfrm>
            <a:off x="6825108" y="5276850"/>
            <a:ext cx="4795391" cy="9525"/>
          </a:xfrm>
          <a:prstGeom prst="rect">
            <a:avLst/>
          </a:prstGeom>
          <a:solidFill>
            <a:srgbClr val="94A3B8">
              <a:alpha val="20000"/>
            </a:srgb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" name="Google Shape;108;p15">
            <a:extLst>
              <a:ext uri="{FF2B5EF4-FFF2-40B4-BE49-F238E27FC236}">
                <a16:creationId xmlns:a16="http://schemas.microsoft.com/office/drawing/2014/main" id="{EB579A26-25A0-4C64-BB3F-DCE676EE7C57}"/>
              </a:ext>
            </a:extLst>
          </p:cNvPr>
          <p:cNvSpPr txBox="1"/>
          <p:nvPr/>
        </p:nvSpPr>
        <p:spPr>
          <a:xfrm>
            <a:off x="571500" y="5481637"/>
            <a:ext cx="11049000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1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The main objective of Marketly is to provide a complete, secure, and user-friendly e-commerce solution for both customers and administrators.</a:t>
            </a:r>
            <a:endParaRPr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Google Shape;84;p13" descr="image.png">
            <a:extLst>
              <a:ext uri="{FF2B5EF4-FFF2-40B4-BE49-F238E27FC236}">
                <a16:creationId xmlns:a16="http://schemas.microsoft.com/office/drawing/2014/main" id="{FAD5DC02-4745-41D2-B461-AB36A3188560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42240" y="-132080"/>
            <a:ext cx="12476480" cy="712216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3" name="Google Shape;223;p22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24" name="Google Shape;224;p22"/>
          <p:cNvSpPr txBox="1"/>
          <p:nvPr/>
        </p:nvSpPr>
        <p:spPr>
          <a:xfrm>
            <a:off x="571500" y="571500"/>
            <a:ext cx="11601450" cy="552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0" i="0" u="none" strike="noStrike" cap="none">
                <a:solidFill>
                  <a:srgbClr val="38BDF8"/>
                </a:solidFill>
                <a:latin typeface="Urbanist SemiBold"/>
                <a:ea typeface="Urbanist SemiBold"/>
                <a:cs typeface="Urbanist SemiBold"/>
                <a:sym typeface="Urbanist SemiBold"/>
              </a:rPr>
              <a:t>System Workflow</a:t>
            </a:r>
            <a:endParaRPr/>
          </a:p>
        </p:txBody>
      </p:sp>
      <p:sp>
        <p:nvSpPr>
          <p:cNvPr id="225" name="Google Shape;225;p22"/>
          <p:cNvSpPr/>
          <p:nvPr/>
        </p:nvSpPr>
        <p:spPr>
          <a:xfrm>
            <a:off x="571500" y="3876675"/>
            <a:ext cx="11049000" cy="381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6" name="Google Shape;226;p22"/>
          <p:cNvSpPr/>
          <p:nvPr/>
        </p:nvSpPr>
        <p:spPr>
          <a:xfrm>
            <a:off x="1451520" y="3781425"/>
            <a:ext cx="228600" cy="228600"/>
          </a:xfrm>
          <a:prstGeom prst="roundRect">
            <a:avLst>
              <a:gd name="adj" fmla="val 50000"/>
            </a:avLst>
          </a:prstGeom>
          <a:solidFill>
            <a:srgbClr val="38BDF8"/>
          </a:solidFill>
          <a:ln w="38100" cap="flat" cmpd="sng">
            <a:solidFill>
              <a:srgbClr val="0F172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7" name="Google Shape;227;p22"/>
          <p:cNvSpPr/>
          <p:nvPr/>
        </p:nvSpPr>
        <p:spPr>
          <a:xfrm>
            <a:off x="3716535" y="3781425"/>
            <a:ext cx="228600" cy="228600"/>
          </a:xfrm>
          <a:prstGeom prst="roundRect">
            <a:avLst>
              <a:gd name="adj" fmla="val 50000"/>
            </a:avLst>
          </a:prstGeom>
          <a:solidFill>
            <a:srgbClr val="38BDF8"/>
          </a:solidFill>
          <a:ln w="38100" cap="flat" cmpd="sng">
            <a:solidFill>
              <a:srgbClr val="0F172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8" name="Google Shape;228;p22"/>
          <p:cNvSpPr/>
          <p:nvPr/>
        </p:nvSpPr>
        <p:spPr>
          <a:xfrm>
            <a:off x="5981551" y="3781425"/>
            <a:ext cx="228600" cy="228600"/>
          </a:xfrm>
          <a:prstGeom prst="roundRect">
            <a:avLst>
              <a:gd name="adj" fmla="val 50000"/>
            </a:avLst>
          </a:prstGeom>
          <a:solidFill>
            <a:srgbClr val="38BDF8"/>
          </a:solidFill>
          <a:ln w="38100" cap="flat" cmpd="sng">
            <a:solidFill>
              <a:srgbClr val="0F172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9" name="Google Shape;229;p22"/>
          <p:cNvSpPr/>
          <p:nvPr/>
        </p:nvSpPr>
        <p:spPr>
          <a:xfrm>
            <a:off x="8246566" y="3781425"/>
            <a:ext cx="228600" cy="228600"/>
          </a:xfrm>
          <a:prstGeom prst="roundRect">
            <a:avLst>
              <a:gd name="adj" fmla="val 50000"/>
            </a:avLst>
          </a:prstGeom>
          <a:solidFill>
            <a:srgbClr val="38BDF8"/>
          </a:solidFill>
          <a:ln w="38100" cap="flat" cmpd="sng">
            <a:solidFill>
              <a:srgbClr val="0F172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0" name="Google Shape;230;p22"/>
          <p:cNvSpPr/>
          <p:nvPr/>
        </p:nvSpPr>
        <p:spPr>
          <a:xfrm>
            <a:off x="10511581" y="3781425"/>
            <a:ext cx="228600" cy="228600"/>
          </a:xfrm>
          <a:prstGeom prst="roundRect">
            <a:avLst>
              <a:gd name="adj" fmla="val 50000"/>
            </a:avLst>
          </a:prstGeom>
          <a:solidFill>
            <a:srgbClr val="38BDF8"/>
          </a:solidFill>
          <a:ln w="38100" cap="flat" cmpd="sng">
            <a:solidFill>
              <a:srgbClr val="0F172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1" name="Google Shape;231;p22"/>
          <p:cNvSpPr txBox="1"/>
          <p:nvPr/>
        </p:nvSpPr>
        <p:spPr>
          <a:xfrm>
            <a:off x="521780" y="2457450"/>
            <a:ext cx="2088229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 dirty="0">
                <a:solidFill>
                  <a:srgbClr val="818CF8"/>
                </a:solidFill>
                <a:latin typeface="Urbanist SemiBold"/>
                <a:ea typeface="Urbanist SemiBold"/>
                <a:cs typeface="Urbanist SemiBold"/>
                <a:sym typeface="Urbanist SemiBold"/>
              </a:rPr>
              <a:t>Authentication</a:t>
            </a:r>
            <a:endParaRPr dirty="0"/>
          </a:p>
        </p:txBody>
      </p:sp>
      <p:sp>
        <p:nvSpPr>
          <p:cNvPr id="232" name="Google Shape;232;p22"/>
          <p:cNvSpPr txBox="1"/>
          <p:nvPr/>
        </p:nvSpPr>
        <p:spPr>
          <a:xfrm>
            <a:off x="571500" y="2895600"/>
            <a:ext cx="1988790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Register / Login with Firebase</a:t>
            </a:r>
            <a:endParaRPr dirty="0"/>
          </a:p>
        </p:txBody>
      </p:sp>
      <p:sp>
        <p:nvSpPr>
          <p:cNvPr id="233" name="Google Shape;233;p22"/>
          <p:cNvSpPr txBox="1"/>
          <p:nvPr/>
        </p:nvSpPr>
        <p:spPr>
          <a:xfrm>
            <a:off x="2786795" y="4219575"/>
            <a:ext cx="2088229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 dirty="0">
                <a:solidFill>
                  <a:srgbClr val="818CF8"/>
                </a:solidFill>
                <a:latin typeface="Urbanist SemiBold"/>
                <a:ea typeface="Urbanist SemiBold"/>
                <a:cs typeface="Urbanist SemiBold"/>
                <a:sym typeface="Urbanist SemiBold"/>
              </a:rPr>
              <a:t>Browse Products</a:t>
            </a:r>
            <a:endParaRPr dirty="0"/>
          </a:p>
        </p:txBody>
      </p:sp>
      <p:sp>
        <p:nvSpPr>
          <p:cNvPr id="234" name="Google Shape;234;p22"/>
          <p:cNvSpPr txBox="1"/>
          <p:nvPr/>
        </p:nvSpPr>
        <p:spPr>
          <a:xfrm>
            <a:off x="2262969" y="4657725"/>
            <a:ext cx="3135882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View Products &amp; Categories</a:t>
            </a:r>
            <a:endParaRPr dirty="0"/>
          </a:p>
        </p:txBody>
      </p:sp>
      <p:sp>
        <p:nvSpPr>
          <p:cNvPr id="235" name="Google Shape;235;p22"/>
          <p:cNvSpPr txBox="1"/>
          <p:nvPr/>
        </p:nvSpPr>
        <p:spPr>
          <a:xfrm>
            <a:off x="5051810" y="2762250"/>
            <a:ext cx="2088229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 dirty="0">
                <a:solidFill>
                  <a:srgbClr val="818CF8"/>
                </a:solidFill>
                <a:latin typeface="Urbanist SemiBold"/>
                <a:ea typeface="Urbanist SemiBold"/>
                <a:cs typeface="Urbanist SemiBold"/>
                <a:sym typeface="Urbanist SemiBold"/>
              </a:rPr>
              <a:t>Shopping Cart</a:t>
            </a:r>
            <a:endParaRPr dirty="0"/>
          </a:p>
        </p:txBody>
      </p:sp>
      <p:sp>
        <p:nvSpPr>
          <p:cNvPr id="236" name="Google Shape;236;p22"/>
          <p:cNvSpPr txBox="1"/>
          <p:nvPr/>
        </p:nvSpPr>
        <p:spPr>
          <a:xfrm>
            <a:off x="5101530" y="3200400"/>
            <a:ext cx="1988790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Add Products to Cart</a:t>
            </a:r>
            <a:endParaRPr dirty="0"/>
          </a:p>
        </p:txBody>
      </p:sp>
      <p:sp>
        <p:nvSpPr>
          <p:cNvPr id="237" name="Google Shape;237;p22"/>
          <p:cNvSpPr txBox="1"/>
          <p:nvPr/>
        </p:nvSpPr>
        <p:spPr>
          <a:xfrm>
            <a:off x="7316825" y="4219575"/>
            <a:ext cx="2088229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 dirty="0">
                <a:solidFill>
                  <a:srgbClr val="818CF8"/>
                </a:solidFill>
                <a:latin typeface="Urbanist SemiBold"/>
                <a:ea typeface="Urbanist SemiBold"/>
                <a:cs typeface="Urbanist SemiBold"/>
                <a:sym typeface="Urbanist SemiBold"/>
              </a:rPr>
              <a:t>Checkout</a:t>
            </a:r>
            <a:endParaRPr dirty="0"/>
          </a:p>
        </p:txBody>
      </p:sp>
      <p:sp>
        <p:nvSpPr>
          <p:cNvPr id="238" name="Google Shape;238;p22"/>
          <p:cNvSpPr txBox="1"/>
          <p:nvPr/>
        </p:nvSpPr>
        <p:spPr>
          <a:xfrm>
            <a:off x="7366545" y="4657725"/>
            <a:ext cx="1988790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Place Order</a:t>
            </a:r>
            <a:endParaRPr dirty="0"/>
          </a:p>
        </p:txBody>
      </p:sp>
      <p:sp>
        <p:nvSpPr>
          <p:cNvPr id="239" name="Google Shape;239;p22"/>
          <p:cNvSpPr txBox="1"/>
          <p:nvPr/>
        </p:nvSpPr>
        <p:spPr>
          <a:xfrm>
            <a:off x="9393894" y="2460851"/>
            <a:ext cx="2464124" cy="323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 dirty="0">
                <a:solidFill>
                  <a:srgbClr val="818CF8"/>
                </a:solidFill>
                <a:latin typeface="Urbanist SemiBold"/>
                <a:ea typeface="Urbanist SemiBold"/>
                <a:cs typeface="Urbanist SemiBold"/>
                <a:sym typeface="Urbanist SemiBold"/>
              </a:rPr>
              <a:t>Order Management</a:t>
            </a:r>
            <a:endParaRPr dirty="0"/>
          </a:p>
        </p:txBody>
      </p:sp>
      <p:sp>
        <p:nvSpPr>
          <p:cNvPr id="240" name="Google Shape;240;p22"/>
          <p:cNvSpPr txBox="1"/>
          <p:nvPr/>
        </p:nvSpPr>
        <p:spPr>
          <a:xfrm>
            <a:off x="9631486" y="2895600"/>
            <a:ext cx="1988790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Admin Processes Orders</a:t>
            </a:r>
            <a:endParaRPr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oogle Shape;84;p13" descr="image.png">
            <a:extLst>
              <a:ext uri="{FF2B5EF4-FFF2-40B4-BE49-F238E27FC236}">
                <a16:creationId xmlns:a16="http://schemas.microsoft.com/office/drawing/2014/main" id="{2A02712C-13B3-41CD-A60A-E62F7E358384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42240" y="-132080"/>
            <a:ext cx="12476480" cy="712216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5" name="Google Shape;245;p2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48" name="Google Shape;248;p23"/>
          <p:cNvSpPr txBox="1"/>
          <p:nvPr/>
        </p:nvSpPr>
        <p:spPr>
          <a:xfrm>
            <a:off x="571500" y="571500"/>
            <a:ext cx="11601450" cy="552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0" i="0" u="none" strike="noStrike" cap="none" dirty="0">
                <a:solidFill>
                  <a:srgbClr val="38BDF8"/>
                </a:solidFill>
                <a:latin typeface="Urbanist SemiBold"/>
                <a:ea typeface="Urbanist SemiBold"/>
                <a:cs typeface="Urbanist SemiBold"/>
                <a:sym typeface="Urbanist SemiBold"/>
              </a:rPr>
              <a:t>UI Showcase: Customer Experience</a:t>
            </a:r>
            <a:endParaRPr dirty="0"/>
          </a:p>
        </p:txBody>
      </p:sp>
      <p:sp>
        <p:nvSpPr>
          <p:cNvPr id="249" name="Google Shape;249;p23"/>
          <p:cNvSpPr txBox="1"/>
          <p:nvPr/>
        </p:nvSpPr>
        <p:spPr>
          <a:xfrm>
            <a:off x="714523" y="4921806"/>
            <a:ext cx="4991100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Home Page</a:t>
            </a:r>
            <a:endParaRPr dirty="0"/>
          </a:p>
        </p:txBody>
      </p:sp>
      <p:pic>
        <p:nvPicPr>
          <p:cNvPr id="11" name="Google Shape;151;p18">
            <a:extLst>
              <a:ext uri="{FF2B5EF4-FFF2-40B4-BE49-F238E27FC236}">
                <a16:creationId xmlns:a16="http://schemas.microsoft.com/office/drawing/2014/main" id="{DA4965D3-4E7F-4E87-8EC6-62A2F5F57FB2}"/>
              </a:ext>
            </a:extLst>
          </p:cNvPr>
          <p:cNvPicPr preferRelativeResize="0"/>
          <p:nvPr/>
        </p:nvPicPr>
        <p:blipFill>
          <a:blip r:embed="rId4"/>
          <a:srcRect l="1070" r="1070"/>
          <a:stretch/>
        </p:blipFill>
        <p:spPr>
          <a:xfrm>
            <a:off x="571500" y="2091515"/>
            <a:ext cx="5277147" cy="2581146"/>
          </a:xfrm>
          <a:prstGeom prst="round2DiagRect">
            <a:avLst>
              <a:gd name="adj1" fmla="val 16667"/>
              <a:gd name="adj2" fmla="val 0"/>
            </a:avLst>
          </a:prstGeom>
          <a:ln w="88900" cap="sq">
            <a:solidFill>
              <a:srgbClr val="1C4D6C"/>
            </a:solidFill>
            <a:miter lim="800000"/>
          </a:ln>
          <a:effectLst>
            <a:outerShdw blurRad="254000" algn="tl" rotWithShape="0">
              <a:srgbClr val="000000">
                <a:alpha val="43000"/>
              </a:srgbClr>
            </a:outerShdw>
          </a:effectLst>
        </p:spPr>
      </p:pic>
      <p:pic>
        <p:nvPicPr>
          <p:cNvPr id="12" name="Google Shape;151;p18">
            <a:extLst>
              <a:ext uri="{FF2B5EF4-FFF2-40B4-BE49-F238E27FC236}">
                <a16:creationId xmlns:a16="http://schemas.microsoft.com/office/drawing/2014/main" id="{21BFCEA8-CAA2-4936-8441-BF101F809821}"/>
              </a:ext>
            </a:extLst>
          </p:cNvPr>
          <p:cNvPicPr preferRelativeResize="0"/>
          <p:nvPr/>
        </p:nvPicPr>
        <p:blipFill>
          <a:blip r:embed="rId5"/>
          <a:srcRect l="1070" r="1070"/>
          <a:stretch/>
        </p:blipFill>
        <p:spPr>
          <a:xfrm>
            <a:off x="6343353" y="2091515"/>
            <a:ext cx="5277147" cy="2581146"/>
          </a:xfrm>
          <a:prstGeom prst="round2DiagRect">
            <a:avLst>
              <a:gd name="adj1" fmla="val 16667"/>
              <a:gd name="adj2" fmla="val 0"/>
            </a:avLst>
          </a:prstGeom>
          <a:ln w="88900" cap="sq">
            <a:solidFill>
              <a:srgbClr val="1C4D6C"/>
            </a:solidFill>
            <a:miter lim="800000"/>
          </a:ln>
          <a:effectLst>
            <a:outerShdw blurRad="254000" algn="tl" rotWithShape="0">
              <a:srgbClr val="000000">
                <a:alpha val="43000"/>
              </a:srgbClr>
            </a:outerShdw>
          </a:effectLst>
        </p:spPr>
      </p:pic>
      <p:sp>
        <p:nvSpPr>
          <p:cNvPr id="13" name="Google Shape;249;p23">
            <a:extLst>
              <a:ext uri="{FF2B5EF4-FFF2-40B4-BE49-F238E27FC236}">
                <a16:creationId xmlns:a16="http://schemas.microsoft.com/office/drawing/2014/main" id="{641840B3-FFD6-497A-B0FB-5A4DA100F3F8}"/>
              </a:ext>
            </a:extLst>
          </p:cNvPr>
          <p:cNvSpPr txBox="1"/>
          <p:nvPr/>
        </p:nvSpPr>
        <p:spPr>
          <a:xfrm>
            <a:off x="6486379" y="4921806"/>
            <a:ext cx="4991100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Products Page</a:t>
            </a:r>
            <a:endParaRPr dirty="0"/>
          </a:p>
        </p:txBody>
      </p:sp>
      <p:sp>
        <p:nvSpPr>
          <p:cNvPr id="14" name="Google Shape;108;p15">
            <a:extLst>
              <a:ext uri="{FF2B5EF4-FFF2-40B4-BE49-F238E27FC236}">
                <a16:creationId xmlns:a16="http://schemas.microsoft.com/office/drawing/2014/main" id="{A8B18031-9E55-49AE-AEDA-55A47ED78802}"/>
              </a:ext>
            </a:extLst>
          </p:cNvPr>
          <p:cNvSpPr txBox="1"/>
          <p:nvPr/>
        </p:nvSpPr>
        <p:spPr>
          <a:xfrm>
            <a:off x="571500" y="5481637"/>
            <a:ext cx="11049000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1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Customers can browse products, search items, and explore categories through a responsive interface.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12156818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oogle Shape;84;p13" descr="image.png">
            <a:extLst>
              <a:ext uri="{FF2B5EF4-FFF2-40B4-BE49-F238E27FC236}">
                <a16:creationId xmlns:a16="http://schemas.microsoft.com/office/drawing/2014/main" id="{BF8505FF-F16A-4A59-95C6-8BABFFB40B25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42240" y="-132080"/>
            <a:ext cx="12476480" cy="712216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5" name="Google Shape;245;p2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48" name="Google Shape;248;p23"/>
          <p:cNvSpPr txBox="1"/>
          <p:nvPr/>
        </p:nvSpPr>
        <p:spPr>
          <a:xfrm>
            <a:off x="571500" y="571500"/>
            <a:ext cx="11601450" cy="552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0" i="0" u="none" strike="noStrike" cap="none" dirty="0">
                <a:solidFill>
                  <a:srgbClr val="38BDF8"/>
                </a:solidFill>
                <a:latin typeface="Urbanist SemiBold"/>
                <a:ea typeface="Urbanist SemiBold"/>
                <a:cs typeface="Urbanist SemiBold"/>
                <a:sym typeface="Urbanist SemiBold"/>
              </a:rPr>
              <a:t>UI Showcase: Shopping Flow</a:t>
            </a:r>
            <a:endParaRPr dirty="0"/>
          </a:p>
        </p:txBody>
      </p:sp>
      <p:sp>
        <p:nvSpPr>
          <p:cNvPr id="249" name="Google Shape;249;p23"/>
          <p:cNvSpPr txBox="1"/>
          <p:nvPr/>
        </p:nvSpPr>
        <p:spPr>
          <a:xfrm>
            <a:off x="714523" y="4921806"/>
            <a:ext cx="4991100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Shopping Cart</a:t>
            </a:r>
            <a:endParaRPr dirty="0"/>
          </a:p>
        </p:txBody>
      </p:sp>
      <p:pic>
        <p:nvPicPr>
          <p:cNvPr id="12" name="Google Shape;151;p18">
            <a:extLst>
              <a:ext uri="{FF2B5EF4-FFF2-40B4-BE49-F238E27FC236}">
                <a16:creationId xmlns:a16="http://schemas.microsoft.com/office/drawing/2014/main" id="{21BFCEA8-CAA2-4936-8441-BF101F809821}"/>
              </a:ext>
            </a:extLst>
          </p:cNvPr>
          <p:cNvPicPr preferRelativeResize="0"/>
          <p:nvPr/>
        </p:nvPicPr>
        <p:blipFill>
          <a:blip r:embed="rId4"/>
          <a:srcRect l="1070" r="1070"/>
          <a:stretch/>
        </p:blipFill>
        <p:spPr>
          <a:xfrm>
            <a:off x="6343353" y="2091515"/>
            <a:ext cx="5277147" cy="2581146"/>
          </a:xfrm>
          <a:prstGeom prst="round2DiagRect">
            <a:avLst>
              <a:gd name="adj1" fmla="val 16667"/>
              <a:gd name="adj2" fmla="val 0"/>
            </a:avLst>
          </a:prstGeom>
          <a:ln w="88900" cap="sq">
            <a:solidFill>
              <a:srgbClr val="1C4D6C"/>
            </a:solidFill>
            <a:miter lim="800000"/>
          </a:ln>
          <a:effectLst>
            <a:outerShdw blurRad="254000" algn="tl" rotWithShape="0">
              <a:srgbClr val="000000">
                <a:alpha val="43000"/>
              </a:srgbClr>
            </a:outerShdw>
          </a:effectLst>
        </p:spPr>
      </p:pic>
      <p:sp>
        <p:nvSpPr>
          <p:cNvPr id="13" name="Google Shape;249;p23">
            <a:extLst>
              <a:ext uri="{FF2B5EF4-FFF2-40B4-BE49-F238E27FC236}">
                <a16:creationId xmlns:a16="http://schemas.microsoft.com/office/drawing/2014/main" id="{641840B3-FFD6-497A-B0FB-5A4DA100F3F8}"/>
              </a:ext>
            </a:extLst>
          </p:cNvPr>
          <p:cNvSpPr txBox="1"/>
          <p:nvPr/>
        </p:nvSpPr>
        <p:spPr>
          <a:xfrm>
            <a:off x="6486379" y="4921806"/>
            <a:ext cx="4991100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Checkout Page</a:t>
            </a:r>
            <a:endParaRPr dirty="0"/>
          </a:p>
        </p:txBody>
      </p:sp>
      <p:sp>
        <p:nvSpPr>
          <p:cNvPr id="14" name="Google Shape;108;p15">
            <a:extLst>
              <a:ext uri="{FF2B5EF4-FFF2-40B4-BE49-F238E27FC236}">
                <a16:creationId xmlns:a16="http://schemas.microsoft.com/office/drawing/2014/main" id="{A8B18031-9E55-49AE-AEDA-55A47ED78802}"/>
              </a:ext>
            </a:extLst>
          </p:cNvPr>
          <p:cNvSpPr txBox="1"/>
          <p:nvPr/>
        </p:nvSpPr>
        <p:spPr>
          <a:xfrm>
            <a:off x="571500" y="5481637"/>
            <a:ext cx="11049000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1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Users can review cart items and complete the ordering process through a streamlined checkout experience.</a:t>
            </a:r>
            <a:endParaRPr dirty="0"/>
          </a:p>
        </p:txBody>
      </p:sp>
      <p:pic>
        <p:nvPicPr>
          <p:cNvPr id="15" name="Google Shape;151;p18">
            <a:extLst>
              <a:ext uri="{FF2B5EF4-FFF2-40B4-BE49-F238E27FC236}">
                <a16:creationId xmlns:a16="http://schemas.microsoft.com/office/drawing/2014/main" id="{3B9041B7-6EF5-4C12-A774-4DA09262C1AD}"/>
              </a:ext>
            </a:extLst>
          </p:cNvPr>
          <p:cNvPicPr preferRelativeResize="0"/>
          <p:nvPr/>
        </p:nvPicPr>
        <p:blipFill>
          <a:blip r:embed="rId5"/>
          <a:srcRect l="1070" r="1070"/>
          <a:stretch/>
        </p:blipFill>
        <p:spPr>
          <a:xfrm>
            <a:off x="571500" y="2091515"/>
            <a:ext cx="5277147" cy="2581146"/>
          </a:xfrm>
          <a:prstGeom prst="round2DiagRect">
            <a:avLst>
              <a:gd name="adj1" fmla="val 16667"/>
              <a:gd name="adj2" fmla="val 0"/>
            </a:avLst>
          </a:prstGeom>
          <a:ln w="88900" cap="sq">
            <a:solidFill>
              <a:srgbClr val="1C4D6C"/>
            </a:solidFill>
            <a:miter lim="800000"/>
          </a:ln>
          <a:effectLst>
            <a:outerShdw blurRad="254000" algn="tl" rotWithShape="0">
              <a:srgbClr val="000000">
                <a:alpha val="43000"/>
              </a:srgbClr>
            </a:outerShdw>
          </a:effectLst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oogle Shape;84;p13" descr="image.png">
            <a:extLst>
              <a:ext uri="{FF2B5EF4-FFF2-40B4-BE49-F238E27FC236}">
                <a16:creationId xmlns:a16="http://schemas.microsoft.com/office/drawing/2014/main" id="{80BD4CCD-4425-4BCA-B3E9-1F621BC5520E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42240" y="-132080"/>
            <a:ext cx="12476480" cy="712216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5" name="Google Shape;245;p2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48" name="Google Shape;248;p23"/>
          <p:cNvSpPr txBox="1"/>
          <p:nvPr/>
        </p:nvSpPr>
        <p:spPr>
          <a:xfrm>
            <a:off x="571500" y="571500"/>
            <a:ext cx="11601450" cy="552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0" i="0" u="none" strike="noStrike" cap="none" dirty="0">
                <a:solidFill>
                  <a:srgbClr val="38BDF8"/>
                </a:solidFill>
                <a:latin typeface="Urbanist SemiBold"/>
                <a:ea typeface="Urbanist SemiBold"/>
                <a:cs typeface="Urbanist SemiBold"/>
                <a:sym typeface="Urbanist SemiBold"/>
              </a:rPr>
              <a:t>UI Showcase: Orders &amp; Administration</a:t>
            </a:r>
            <a:endParaRPr lang="en-US" dirty="0"/>
          </a:p>
        </p:txBody>
      </p:sp>
      <p:sp>
        <p:nvSpPr>
          <p:cNvPr id="249" name="Google Shape;249;p23"/>
          <p:cNvSpPr txBox="1"/>
          <p:nvPr/>
        </p:nvSpPr>
        <p:spPr>
          <a:xfrm>
            <a:off x="714523" y="4921806"/>
            <a:ext cx="4991100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My Orders</a:t>
            </a:r>
            <a:endParaRPr dirty="0"/>
          </a:p>
        </p:txBody>
      </p:sp>
      <p:pic>
        <p:nvPicPr>
          <p:cNvPr id="11" name="Google Shape;151;p18">
            <a:extLst>
              <a:ext uri="{FF2B5EF4-FFF2-40B4-BE49-F238E27FC236}">
                <a16:creationId xmlns:a16="http://schemas.microsoft.com/office/drawing/2014/main" id="{DA4965D3-4E7F-4E87-8EC6-62A2F5F57FB2}"/>
              </a:ext>
            </a:extLst>
          </p:cNvPr>
          <p:cNvPicPr preferRelativeResize="0"/>
          <p:nvPr/>
        </p:nvPicPr>
        <p:blipFill>
          <a:blip r:embed="rId4"/>
          <a:srcRect l="1070" r="1070"/>
          <a:stretch/>
        </p:blipFill>
        <p:spPr>
          <a:xfrm>
            <a:off x="571500" y="2091515"/>
            <a:ext cx="5277147" cy="2581146"/>
          </a:xfrm>
          <a:prstGeom prst="round2DiagRect">
            <a:avLst>
              <a:gd name="adj1" fmla="val 16667"/>
              <a:gd name="adj2" fmla="val 0"/>
            </a:avLst>
          </a:prstGeom>
          <a:ln w="88900" cap="sq">
            <a:solidFill>
              <a:srgbClr val="1C4D6C"/>
            </a:solidFill>
            <a:miter lim="800000"/>
          </a:ln>
          <a:effectLst>
            <a:outerShdw blurRad="254000" algn="tl" rotWithShape="0">
              <a:srgbClr val="000000">
                <a:alpha val="43000"/>
              </a:srgbClr>
            </a:outerShdw>
          </a:effectLst>
        </p:spPr>
      </p:pic>
      <p:pic>
        <p:nvPicPr>
          <p:cNvPr id="12" name="Google Shape;151;p18">
            <a:extLst>
              <a:ext uri="{FF2B5EF4-FFF2-40B4-BE49-F238E27FC236}">
                <a16:creationId xmlns:a16="http://schemas.microsoft.com/office/drawing/2014/main" id="{21BFCEA8-CAA2-4936-8441-BF101F809821}"/>
              </a:ext>
            </a:extLst>
          </p:cNvPr>
          <p:cNvPicPr preferRelativeResize="0"/>
          <p:nvPr/>
        </p:nvPicPr>
        <p:blipFill>
          <a:blip r:embed="rId5"/>
          <a:srcRect l="1070" r="1070"/>
          <a:stretch/>
        </p:blipFill>
        <p:spPr>
          <a:xfrm>
            <a:off x="6343353" y="2091515"/>
            <a:ext cx="5277147" cy="2581146"/>
          </a:xfrm>
          <a:prstGeom prst="round2DiagRect">
            <a:avLst>
              <a:gd name="adj1" fmla="val 16667"/>
              <a:gd name="adj2" fmla="val 0"/>
            </a:avLst>
          </a:prstGeom>
          <a:ln w="88900" cap="sq">
            <a:solidFill>
              <a:srgbClr val="1C4D6C"/>
            </a:solidFill>
            <a:miter lim="800000"/>
          </a:ln>
          <a:effectLst>
            <a:outerShdw blurRad="254000" algn="tl" rotWithShape="0">
              <a:srgbClr val="000000">
                <a:alpha val="43000"/>
              </a:srgbClr>
            </a:outerShdw>
          </a:effectLst>
        </p:spPr>
      </p:pic>
      <p:sp>
        <p:nvSpPr>
          <p:cNvPr id="13" name="Google Shape;249;p23">
            <a:extLst>
              <a:ext uri="{FF2B5EF4-FFF2-40B4-BE49-F238E27FC236}">
                <a16:creationId xmlns:a16="http://schemas.microsoft.com/office/drawing/2014/main" id="{641840B3-FFD6-497A-B0FB-5A4DA100F3F8}"/>
              </a:ext>
            </a:extLst>
          </p:cNvPr>
          <p:cNvSpPr txBox="1"/>
          <p:nvPr/>
        </p:nvSpPr>
        <p:spPr>
          <a:xfrm>
            <a:off x="6486379" y="4921806"/>
            <a:ext cx="4991100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Admin Dashboard</a:t>
            </a:r>
            <a:endParaRPr dirty="0"/>
          </a:p>
        </p:txBody>
      </p:sp>
      <p:sp>
        <p:nvSpPr>
          <p:cNvPr id="14" name="Google Shape;108;p15">
            <a:extLst>
              <a:ext uri="{FF2B5EF4-FFF2-40B4-BE49-F238E27FC236}">
                <a16:creationId xmlns:a16="http://schemas.microsoft.com/office/drawing/2014/main" id="{A8B18031-9E55-49AE-AEDA-55A47ED78802}"/>
              </a:ext>
            </a:extLst>
          </p:cNvPr>
          <p:cNvSpPr txBox="1"/>
          <p:nvPr/>
        </p:nvSpPr>
        <p:spPr>
          <a:xfrm>
            <a:off x="571500" y="5481637"/>
            <a:ext cx="11049000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1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Customers can track their orders while administrators manage products, categories, and orders through the dashboard.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43618527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oogle Shape;84;p13" descr="image.png">
            <a:extLst>
              <a:ext uri="{FF2B5EF4-FFF2-40B4-BE49-F238E27FC236}">
                <a16:creationId xmlns:a16="http://schemas.microsoft.com/office/drawing/2014/main" id="{57983BE8-73D5-4F26-B549-BB29711A1457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42240" y="-132080"/>
            <a:ext cx="12476480" cy="7122160"/>
          </a:xfrm>
          <a:prstGeom prst="rect">
            <a:avLst/>
          </a:prstGeom>
          <a:noFill/>
          <a:ln>
            <a:noFill/>
          </a:ln>
        </p:spPr>
      </p:pic>
      <p:pic>
        <p:nvPicPr>
          <p:cNvPr id="276" name="Google Shape;276;p25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77" name="Google Shape;277;p25"/>
          <p:cNvSpPr txBox="1"/>
          <p:nvPr/>
        </p:nvSpPr>
        <p:spPr>
          <a:xfrm>
            <a:off x="571500" y="571500"/>
            <a:ext cx="11601450" cy="552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0" i="0" u="none" strike="noStrike" cap="none">
                <a:solidFill>
                  <a:srgbClr val="38BDF8"/>
                </a:solidFill>
                <a:latin typeface="Urbanist SemiBold"/>
                <a:ea typeface="Urbanist SemiBold"/>
                <a:cs typeface="Urbanist SemiBold"/>
                <a:sym typeface="Urbanist SemiBold"/>
              </a:rPr>
              <a:t>Development Challenges</a:t>
            </a:r>
            <a:endParaRPr/>
          </a:p>
        </p:txBody>
      </p:sp>
      <p:sp>
        <p:nvSpPr>
          <p:cNvPr id="278" name="Google Shape;278;p25"/>
          <p:cNvSpPr txBox="1"/>
          <p:nvPr/>
        </p:nvSpPr>
        <p:spPr>
          <a:xfrm>
            <a:off x="571500" y="2614136"/>
            <a:ext cx="10620375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Dependency on External API:</a:t>
            </a:r>
            <a:r>
              <a:rPr lang="en-US" sz="1500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The project initially relied entirely on the Platzi API as the primary source of products and categories.</a:t>
            </a:r>
            <a:endParaRPr dirty="0"/>
          </a:p>
        </p:txBody>
      </p:sp>
      <p:sp>
        <p:nvSpPr>
          <p:cNvPr id="279" name="Google Shape;279;p25"/>
          <p:cNvSpPr txBox="1"/>
          <p:nvPr/>
        </p:nvSpPr>
        <p:spPr>
          <a:xfrm>
            <a:off x="571500" y="3352800"/>
            <a:ext cx="10620375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Data Backup &amp; Recovery:</a:t>
            </a:r>
            <a:r>
              <a:rPr lang="en-US" sz="1500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Administrative modifications could be lost if external data became unavailable or incorrect.</a:t>
            </a:r>
            <a:endParaRPr dirty="0"/>
          </a:p>
        </p:txBody>
      </p:sp>
      <p:sp>
        <p:nvSpPr>
          <p:cNvPr id="280" name="Google Shape;280;p25"/>
          <p:cNvSpPr txBox="1"/>
          <p:nvPr/>
        </p:nvSpPr>
        <p:spPr>
          <a:xfrm>
            <a:off x="571500" y="3722132"/>
            <a:ext cx="10620375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Duplicate Orders During Network Interruptions:</a:t>
            </a:r>
            <a:r>
              <a:rPr lang="en-US" sz="1500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Users could submit multiple checkout requests while offline, resulting in duplicate orders after reconnection.</a:t>
            </a:r>
            <a:endParaRPr dirty="0"/>
          </a:p>
        </p:txBody>
      </p:sp>
      <p:sp>
        <p:nvSpPr>
          <p:cNvPr id="281" name="Google Shape;281;p25"/>
          <p:cNvSpPr txBox="1"/>
          <p:nvPr/>
        </p:nvSpPr>
        <p:spPr>
          <a:xfrm>
            <a:off x="571500" y="4460796"/>
            <a:ext cx="10620375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Product Filtering Issues:</a:t>
            </a:r>
            <a:r>
              <a:rPr lang="en-US" sz="1500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Newly added products were not appearing in category pages because of filtering constraints.</a:t>
            </a:r>
            <a:endParaRPr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oogle Shape;84;p13" descr="image.png">
            <a:extLst>
              <a:ext uri="{FF2B5EF4-FFF2-40B4-BE49-F238E27FC236}">
                <a16:creationId xmlns:a16="http://schemas.microsoft.com/office/drawing/2014/main" id="{0CF62276-467A-44BE-9FCA-5125D5CA79B6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42240" y="-132080"/>
            <a:ext cx="12476480" cy="7122160"/>
          </a:xfrm>
          <a:prstGeom prst="rect">
            <a:avLst/>
          </a:prstGeom>
          <a:noFill/>
          <a:ln>
            <a:noFill/>
          </a:ln>
        </p:spPr>
      </p:pic>
      <p:pic>
        <p:nvPicPr>
          <p:cNvPr id="276" name="Google Shape;276;p25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77" name="Google Shape;277;p25"/>
          <p:cNvSpPr txBox="1"/>
          <p:nvPr/>
        </p:nvSpPr>
        <p:spPr>
          <a:xfrm>
            <a:off x="571500" y="571500"/>
            <a:ext cx="11601450" cy="552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0" i="0" u="none" strike="noStrike" cap="none" dirty="0">
                <a:solidFill>
                  <a:srgbClr val="38BDF8"/>
                </a:solidFill>
                <a:latin typeface="Urbanist SemiBold"/>
                <a:ea typeface="Urbanist SemiBold"/>
                <a:cs typeface="Urbanist SemiBold"/>
                <a:sym typeface="Urbanist SemiBold"/>
              </a:rPr>
              <a:t>Implemented Solutions</a:t>
            </a:r>
            <a:endParaRPr lang="en-US" sz="3600" dirty="0"/>
          </a:p>
        </p:txBody>
      </p:sp>
      <p:sp>
        <p:nvSpPr>
          <p:cNvPr id="278" name="Google Shape;278;p25"/>
          <p:cNvSpPr txBox="1"/>
          <p:nvPr/>
        </p:nvSpPr>
        <p:spPr>
          <a:xfrm>
            <a:off x="571500" y="2614136"/>
            <a:ext cx="10620375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Cloud Firestore Integration:</a:t>
            </a:r>
            <a:r>
              <a:rPr lang="en-US" sz="1500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Migrated product and category data from Platzi API to Cloud Firestore to improve reliability, performance, and data control.</a:t>
            </a:r>
            <a:endParaRPr dirty="0"/>
          </a:p>
        </p:txBody>
      </p:sp>
      <p:sp>
        <p:nvSpPr>
          <p:cNvPr id="279" name="Google Shape;279;p25"/>
          <p:cNvSpPr txBox="1"/>
          <p:nvPr/>
        </p:nvSpPr>
        <p:spPr>
          <a:xfrm>
            <a:off x="571500" y="3352800"/>
            <a:ext cx="10620375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Backup &amp; Restore System:</a:t>
            </a:r>
            <a:r>
              <a:rPr lang="en-US" sz="1500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Implemented backup and restore functionality to preserve administrative changes and recover data when needed.</a:t>
            </a:r>
            <a:endParaRPr dirty="0"/>
          </a:p>
        </p:txBody>
      </p:sp>
      <p:sp>
        <p:nvSpPr>
          <p:cNvPr id="280" name="Google Shape;280;p25"/>
          <p:cNvSpPr txBox="1"/>
          <p:nvPr/>
        </p:nvSpPr>
        <p:spPr>
          <a:xfrm>
            <a:off x="571500" y="4091464"/>
            <a:ext cx="10620375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Order Validation Mechanism:</a:t>
            </a:r>
            <a:r>
              <a:rPr lang="en-US" sz="1500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Added network connectivity checks and request control mechanisms to prevent duplicate order creation.</a:t>
            </a:r>
            <a:endParaRPr dirty="0"/>
          </a:p>
        </p:txBody>
      </p:sp>
      <p:sp>
        <p:nvSpPr>
          <p:cNvPr id="281" name="Google Shape;281;p25"/>
          <p:cNvSpPr txBox="1"/>
          <p:nvPr/>
        </p:nvSpPr>
        <p:spPr>
          <a:xfrm>
            <a:off x="571500" y="4830128"/>
            <a:ext cx="10620375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Improved  Filtering Logic:</a:t>
            </a:r>
            <a:r>
              <a:rPr lang="en-US" sz="1500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Refined category filtering rules to ensure all products are displayed correctly regardless of their price range.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08907847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oogle Shape;84;p13" descr="image.png">
            <a:extLst>
              <a:ext uri="{FF2B5EF4-FFF2-40B4-BE49-F238E27FC236}">
                <a16:creationId xmlns:a16="http://schemas.microsoft.com/office/drawing/2014/main" id="{432AA63C-2FEA-4D0A-BC6C-1A3FD4E9231B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42240" y="-132080"/>
            <a:ext cx="12476480" cy="7122160"/>
          </a:xfrm>
          <a:prstGeom prst="rect">
            <a:avLst/>
          </a:prstGeom>
          <a:noFill/>
          <a:ln>
            <a:noFill/>
          </a:ln>
        </p:spPr>
      </p:pic>
      <p:pic>
        <p:nvPicPr>
          <p:cNvPr id="308" name="Google Shape;308;p27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10" name="Google Shape;310;p27"/>
          <p:cNvSpPr txBox="1"/>
          <p:nvPr/>
        </p:nvSpPr>
        <p:spPr>
          <a:xfrm>
            <a:off x="571500" y="571500"/>
            <a:ext cx="11601450" cy="552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0" i="0" u="none" strike="noStrike" cap="none">
                <a:solidFill>
                  <a:srgbClr val="38BDF8"/>
                </a:solidFill>
                <a:latin typeface="Urbanist SemiBold"/>
                <a:ea typeface="Urbanist SemiBold"/>
                <a:cs typeface="Urbanist SemiBold"/>
                <a:sym typeface="Urbanist SemiBold"/>
              </a:rPr>
              <a:t>Performance Validation</a:t>
            </a:r>
            <a:endParaRPr/>
          </a:p>
        </p:txBody>
      </p:sp>
      <p:sp>
        <p:nvSpPr>
          <p:cNvPr id="311" name="Google Shape;311;p27"/>
          <p:cNvSpPr txBox="1"/>
          <p:nvPr/>
        </p:nvSpPr>
        <p:spPr>
          <a:xfrm>
            <a:off x="571500" y="5053012"/>
            <a:ext cx="110490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38BDF8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Validated using Google Lighthouse Performance Metrics</a:t>
            </a:r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B88BABC-2B48-4B43-A704-0ED1876BD39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73646" y="3853133"/>
            <a:ext cx="4244708" cy="1082134"/>
          </a:xfrm>
          <a:prstGeom prst="snip2Diag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153049"/>
            </a:solidFill>
            <a:miter lim="800000"/>
          </a:ln>
          <a:effectLst>
            <a:outerShdw blurRad="88900" algn="tl" rotWithShape="0">
              <a:srgbClr val="000000">
                <a:alpha val="45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8" name="Google Shape;278;p25">
            <a:extLst>
              <a:ext uri="{FF2B5EF4-FFF2-40B4-BE49-F238E27FC236}">
                <a16:creationId xmlns:a16="http://schemas.microsoft.com/office/drawing/2014/main" id="{E030BC11-9B21-45B1-9BA8-CAB1D7E8518C}"/>
              </a:ext>
            </a:extLst>
          </p:cNvPr>
          <p:cNvSpPr txBox="1"/>
          <p:nvPr/>
        </p:nvSpPr>
        <p:spPr>
          <a:xfrm>
            <a:off x="571500" y="2444828"/>
            <a:ext cx="11049000" cy="11079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The application was evaluated using Google Lighthouse to measure performance, accessibility, SEO, and development best practices.</a:t>
            </a:r>
          </a:p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Results: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Google Shape;84;p13" descr="image.png">
            <a:extLst>
              <a:ext uri="{FF2B5EF4-FFF2-40B4-BE49-F238E27FC236}">
                <a16:creationId xmlns:a16="http://schemas.microsoft.com/office/drawing/2014/main" id="{C6281460-6912-4BBC-A696-C677E0D4C6E0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42240" y="-132080"/>
            <a:ext cx="12476480" cy="7122160"/>
          </a:xfrm>
          <a:prstGeom prst="rect">
            <a:avLst/>
          </a:prstGeom>
          <a:noFill/>
          <a:ln>
            <a:noFill/>
          </a:ln>
        </p:spPr>
      </p:pic>
      <p:pic>
        <p:nvPicPr>
          <p:cNvPr id="316" name="Google Shape;316;p28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17" name="Google Shape;317;p28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381750" y="2087909"/>
            <a:ext cx="5238750" cy="3615630"/>
          </a:xfrm>
          <a:prstGeom prst="rect">
            <a:avLst/>
          </a:prstGeom>
          <a:noFill/>
          <a:ln>
            <a:noFill/>
          </a:ln>
        </p:spPr>
      </p:pic>
      <p:sp>
        <p:nvSpPr>
          <p:cNvPr id="318" name="Google Shape;318;p28"/>
          <p:cNvSpPr txBox="1"/>
          <p:nvPr/>
        </p:nvSpPr>
        <p:spPr>
          <a:xfrm>
            <a:off x="571500" y="571500"/>
            <a:ext cx="11601450" cy="552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0" i="0" u="none" strike="noStrike" cap="none">
                <a:solidFill>
                  <a:srgbClr val="38BDF8"/>
                </a:solidFill>
                <a:latin typeface="Urbanist SemiBold"/>
                <a:ea typeface="Urbanist SemiBold"/>
                <a:cs typeface="Urbanist SemiBold"/>
                <a:sym typeface="Urbanist SemiBold"/>
              </a:rPr>
              <a:t>Future Roadmap</a:t>
            </a:r>
            <a:endParaRPr/>
          </a:p>
        </p:txBody>
      </p:sp>
      <p:sp>
        <p:nvSpPr>
          <p:cNvPr id="319" name="Google Shape;319;p28"/>
          <p:cNvSpPr txBox="1"/>
          <p:nvPr/>
        </p:nvSpPr>
        <p:spPr>
          <a:xfrm>
            <a:off x="571500" y="2087909"/>
            <a:ext cx="5500687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 dirty="0">
                <a:solidFill>
                  <a:srgbClr val="818CF8"/>
                </a:solidFill>
                <a:latin typeface="Urbanist SemiBold"/>
                <a:ea typeface="Urbanist SemiBold"/>
                <a:cs typeface="Urbanist SemiBold"/>
                <a:sym typeface="Urbanist SemiBold"/>
              </a:rPr>
              <a:t>Next Milestones</a:t>
            </a:r>
            <a:endParaRPr dirty="0"/>
          </a:p>
        </p:txBody>
      </p:sp>
      <p:sp>
        <p:nvSpPr>
          <p:cNvPr id="320" name="Google Shape;320;p28"/>
          <p:cNvSpPr txBox="1"/>
          <p:nvPr/>
        </p:nvSpPr>
        <p:spPr>
          <a:xfrm>
            <a:off x="6381750" y="5459759"/>
            <a:ext cx="5238750" cy="2437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Predicted Growth Scalability Trend</a:t>
            </a:r>
            <a:endParaRPr lang="en-US" dirty="0"/>
          </a:p>
        </p:txBody>
      </p:sp>
      <p:sp>
        <p:nvSpPr>
          <p:cNvPr id="321" name="Google Shape;321;p28"/>
          <p:cNvSpPr txBox="1"/>
          <p:nvPr/>
        </p:nvSpPr>
        <p:spPr>
          <a:xfrm>
            <a:off x="571500" y="2526059"/>
            <a:ext cx="4810125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285750" marR="0" lvl="0" indent="-28575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Font typeface="Arial" panose="020B0604020202020204" pitchFamily="34" charset="0"/>
              <a:buChar char="•"/>
            </a:pPr>
            <a:r>
              <a:rPr lang="en-US" sz="1500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Allow customers to rate products and share feedback.</a:t>
            </a:r>
            <a:endParaRPr dirty="0"/>
          </a:p>
        </p:txBody>
      </p:sp>
      <p:sp>
        <p:nvSpPr>
          <p:cNvPr id="322" name="Google Shape;322;p28"/>
          <p:cNvSpPr txBox="1"/>
          <p:nvPr/>
        </p:nvSpPr>
        <p:spPr>
          <a:xfrm>
            <a:off x="571500" y="3264723"/>
            <a:ext cx="4810125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285750" marR="0" lvl="0" indent="-28575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Font typeface="Arial" panose="020B0604020202020204" pitchFamily="34" charset="0"/>
              <a:buChar char="•"/>
            </a:pPr>
            <a:r>
              <a:rPr lang="en-US" sz="1500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Enable users to save products for future purchases.</a:t>
            </a:r>
            <a:endParaRPr dirty="0"/>
          </a:p>
        </p:txBody>
      </p:sp>
      <p:sp>
        <p:nvSpPr>
          <p:cNvPr id="323" name="Google Shape;323;p28"/>
          <p:cNvSpPr txBox="1"/>
          <p:nvPr/>
        </p:nvSpPr>
        <p:spPr>
          <a:xfrm>
            <a:off x="571500" y="4003387"/>
            <a:ext cx="4810125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285750" marR="0" lvl="0" indent="-28575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Font typeface="Arial" panose="020B0604020202020204" pitchFamily="34" charset="0"/>
              <a:buChar char="•"/>
            </a:pPr>
            <a:r>
              <a:rPr lang="en-US" sz="1500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Provide more advanced search options and filtering capabilities.</a:t>
            </a:r>
            <a:endParaRPr dirty="0"/>
          </a:p>
        </p:txBody>
      </p:sp>
      <p:sp>
        <p:nvSpPr>
          <p:cNvPr id="324" name="Google Shape;324;p28"/>
          <p:cNvSpPr txBox="1"/>
          <p:nvPr/>
        </p:nvSpPr>
        <p:spPr>
          <a:xfrm>
            <a:off x="571500" y="4742051"/>
            <a:ext cx="4810125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285750" marR="0" lvl="0" indent="-28575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Font typeface="Arial" panose="020B0604020202020204" pitchFamily="34" charset="0"/>
              <a:buChar char="•"/>
            </a:pPr>
            <a:r>
              <a:rPr lang="en-US" sz="1500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Send automated notifications for account activities and order updates.</a:t>
            </a:r>
            <a:endParaRPr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oogle Shape;84;p13" descr="image.png">
            <a:extLst>
              <a:ext uri="{FF2B5EF4-FFF2-40B4-BE49-F238E27FC236}">
                <a16:creationId xmlns:a16="http://schemas.microsoft.com/office/drawing/2014/main" id="{30A155A9-1829-4C1B-835D-8127A4770A30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42240" y="-132080"/>
            <a:ext cx="12476480" cy="7122160"/>
          </a:xfrm>
          <a:prstGeom prst="rect">
            <a:avLst/>
          </a:prstGeom>
          <a:noFill/>
          <a:ln>
            <a:noFill/>
          </a:ln>
        </p:spPr>
      </p:pic>
      <p:pic>
        <p:nvPicPr>
          <p:cNvPr id="9" name="Google Shape;316;p28" descr="image.png">
            <a:extLst>
              <a:ext uri="{FF2B5EF4-FFF2-40B4-BE49-F238E27FC236}">
                <a16:creationId xmlns:a16="http://schemas.microsoft.com/office/drawing/2014/main" id="{57B2879E-6CD6-417B-8D66-9496D634E92B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34" name="Google Shape;334;p29"/>
          <p:cNvSpPr txBox="1"/>
          <p:nvPr/>
        </p:nvSpPr>
        <p:spPr>
          <a:xfrm>
            <a:off x="3596638" y="2190750"/>
            <a:ext cx="4998722" cy="12695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500" b="1" i="0" u="none" strike="noStrike" cap="none" dirty="0">
                <a:gradFill>
                  <a:gsLst>
                    <a:gs pos="0">
                      <a:srgbClr val="2FB9FF"/>
                    </a:gs>
                    <a:gs pos="100000">
                      <a:srgbClr val="A66BFF"/>
                    </a:gs>
                    <a:gs pos="50000">
                      <a:srgbClr val="4E8BFF"/>
                    </a:gs>
                  </a:gsLst>
                  <a:lin ang="0" scaled="0"/>
                </a:gradFill>
                <a:latin typeface="Urbanist"/>
                <a:ea typeface="Urbanist"/>
                <a:cs typeface="Urbanist"/>
                <a:sym typeface="Urbanist"/>
              </a:rPr>
              <a:t>Thank You!</a:t>
            </a:r>
            <a:endParaRPr dirty="0">
              <a:gradFill>
                <a:gsLst>
                  <a:gs pos="0">
                    <a:srgbClr val="2FB9FF"/>
                  </a:gs>
                  <a:gs pos="100000">
                    <a:srgbClr val="A66BFF"/>
                  </a:gs>
                  <a:gs pos="50000">
                    <a:srgbClr val="4E8BFF"/>
                  </a:gs>
                </a:gsLst>
                <a:lin ang="0" scaled="0"/>
              </a:gradFill>
            </a:endParaRPr>
          </a:p>
        </p:txBody>
      </p:sp>
      <p:sp>
        <p:nvSpPr>
          <p:cNvPr id="335" name="Google Shape;335;p29"/>
          <p:cNvSpPr txBox="1"/>
          <p:nvPr/>
        </p:nvSpPr>
        <p:spPr>
          <a:xfrm>
            <a:off x="4277360" y="3429000"/>
            <a:ext cx="3637280" cy="5909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 dirty="0">
                <a:solidFill>
                  <a:srgbClr val="38BDF8"/>
                </a:solidFill>
                <a:latin typeface="Inter Light"/>
                <a:ea typeface="Inter Light"/>
                <a:cs typeface="Inter Light"/>
                <a:sym typeface="Inter Light"/>
              </a:rPr>
              <a:t>Questions &amp; Discussion</a:t>
            </a:r>
            <a:endParaRPr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circle/>
      </p:transition>
    </mc:Choice>
    <mc:Fallback xmlns="">
      <p:transition spd="slow">
        <p:circl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732</TotalTime>
  <Words>868</Words>
  <Application>Microsoft Office PowerPoint</Application>
  <PresentationFormat>Widescreen</PresentationFormat>
  <Paragraphs>132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6" baseType="lpstr">
      <vt:lpstr>Calibri</vt:lpstr>
      <vt:lpstr>Urbanist SemiBold</vt:lpstr>
      <vt:lpstr>Inter Light</vt:lpstr>
      <vt:lpstr>Inter</vt:lpstr>
      <vt:lpstr>Inter SemiBold</vt:lpstr>
      <vt:lpstr>Arial</vt:lpstr>
      <vt:lpstr>Urbanist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cp:lastModifiedBy>Sohaib Ayman</cp:lastModifiedBy>
  <cp:revision>32</cp:revision>
  <dcterms:modified xsi:type="dcterms:W3CDTF">2026-06-16T21:40:42Z</dcterms:modified>
</cp:coreProperties>
</file>
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C63FF"/>
    <a:srgbClr val="00E676"/>
    <a:srgbClr val="FF5252"/>
    <a:srgbClr val="FFB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Results</c:v>
                </c:pt>
              </c:strCache>
            </c:strRef>
          </c:tx>
          <c:spPr>
            <a:solidFill>
              <a:srgbClr val="00E67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6C63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B2E-4AE9-AFA4-1B6F51D2C95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B2E-4AE9-AFA4-1B6F51D2C955}"/>
              </c:ext>
            </c:extLst>
          </c:dPt>
          <c:dPt>
            <c:idx val="2"/>
            <c:invertIfNegative val="0"/>
            <c:bubble3D val="0"/>
            <c:spPr>
              <a:solidFill>
                <a:srgbClr val="FF52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B2E-4AE9-AFA4-1B6F51D2C955}"/>
              </c:ext>
            </c:extLst>
          </c:dPt>
          <c:dPt>
            <c:idx val="3"/>
            <c:invertIfNegative val="0"/>
            <c:bubble3D val="0"/>
            <c:spPr>
              <a:solidFill>
                <a:srgbClr val="FFB3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3708-4076-9716-0C1D829CC84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1F5F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Performance</c:v>
                </c:pt>
                <c:pt idx="1">
                  <c:v>Accessibility</c:v>
                </c:pt>
                <c:pt idx="2">
                  <c:v>Best Practices</c:v>
                </c:pt>
                <c:pt idx="3">
                  <c:v>SEO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</c:v>
                </c:pt>
                <c:pt idx="1">
                  <c:v>93</c:v>
                </c:pt>
                <c:pt idx="2">
                  <c:v>96</c:v>
                </c:pt>
                <c:pt idx="3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B2E-4AE9-AFA4-1B6F51D2C95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D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A0E1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Pass/Fail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E67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8FC-4C36-872A-0319713CEDE8}"/>
              </c:ext>
            </c:extLst>
          </c:dPt>
          <c:dPt>
            <c:idx val="1"/>
            <c:bubble3D val="0"/>
            <c:spPr>
              <a:solidFill>
                <a:srgbClr val="FF52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8FC-4C36-872A-0319713CEDE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8FC-4C36-872A-0319713CEDE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8FC-4C36-872A-0319713CEDE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Optimized (94%)</c:v>
                </c:pt>
                <c:pt idx="1">
                  <c:v>Improvement Opportunity (6%)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94</c:v>
                </c:pt>
                <c:pt idx="1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8FC-4C36-872A-0319713CED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egendEntry>
        <c:idx val="0"/>
        <c:txPr>
          <a:bodyPr/>
          <a:lstStyle/>
          <a:p>
            <a:pPr>
              <a:defRPr sz="1000" baseline="0">
                <a:solidFill>
                  <a:schemeClr val="bg1"/>
                </a:solidFill>
              </a:defRPr>
            </a:pPr>
            <a:endParaRPr lang="en-US"/>
          </a:p>
        </c:txPr>
      </c:legendEntry>
      <c:legendEntry>
        <c:idx val="1"/>
        <c:txPr>
          <a:bodyPr/>
          <a:lstStyle/>
          <a:p>
            <a:pPr>
              <a:defRPr sz="1000" baseline="0">
                <a:solidFill>
                  <a:schemeClr val="bg1"/>
                </a:solidFill>
              </a:defRPr>
            </a:pPr>
            <a:endParaRPr lang="en-US"/>
          </a:p>
        </c:txPr>
      </c:legendEntry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0A0E1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2413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2560320" cy="2560320"/>
          </a:xfrm>
          <a:prstGeom prst="ellipse">
            <a:avLst/>
          </a:prstGeom>
          <a:solidFill>
            <a:srgbClr val="6C63FF">
              <a:alpha val="15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182880"/>
            <a:ext cx="1463040" cy="1463040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57200" y="3840480"/>
            <a:ext cx="2011680" cy="2011680"/>
          </a:xfrm>
          <a:prstGeom prst="ellipse">
            <a:avLst/>
          </a:prstGeom>
          <a:solidFill>
            <a:srgbClr val="4FC3F7">
              <a:alpha val="12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468880"/>
            <a:ext cx="4114800" cy="0"/>
          </a:xfrm>
          <a:prstGeom prst="line">
            <a:avLst/>
          </a:prstGeom>
          <a:noFill/>
          <a:ln w="19050">
            <a:solidFill>
              <a:srgbClr val="6C63F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73152"/>
            <a:ext cx="658368" cy="658368"/>
          </a:xfrm>
          <a:prstGeom prst="ellipse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73152"/>
            <a:ext cx="658368" cy="6583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 — Information Technology Colleague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14400" y="6583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رواد مصر الرقمية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48640" y="105156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kern="0" spc="2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</a:t>
            </a:r>
            <a:endParaRPr lang="en-US" sz="5800" dirty="0"/>
          </a:p>
        </p:txBody>
      </p:sp>
      <p:sp>
        <p:nvSpPr>
          <p:cNvPr id="12" name="Text 8"/>
          <p:cNvSpPr/>
          <p:nvPr/>
        </p:nvSpPr>
        <p:spPr>
          <a:xfrm>
            <a:off x="548640" y="1755648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kern="0" spc="2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5800" dirty="0"/>
          </a:p>
        </p:txBody>
      </p:sp>
      <p:sp>
        <p:nvSpPr>
          <p:cNvPr id="13" name="Text 9"/>
          <p:cNvSpPr/>
          <p:nvPr/>
        </p:nvSpPr>
        <p:spPr>
          <a:xfrm>
            <a:off x="548640" y="2651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 •  Modern  •  Premium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4187952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6C63FF">
              <a:alpha val="2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48640" y="41879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2651760" y="4187952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4FC3F7">
              <a:alpha val="2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651760" y="41879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Platform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754880" y="4187952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00E676">
              <a:alpha val="2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754880" y="41879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/ 2026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903720" y="4069080"/>
            <a:ext cx="2148840" cy="621792"/>
          </a:xfrm>
          <a:prstGeom prst="roundRect">
            <a:avLst>
              <a:gd name="adj" fmla="val 11765"/>
            </a:avLst>
          </a:prstGeom>
          <a:solidFill>
            <a:srgbClr val="6C63FF">
              <a:alpha val="85000"/>
            </a:srgbClr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903720" y="4087368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SHR4_SWD2_S1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903720" y="4398264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</a:t>
            </a:r>
            <a:r>
              <a:rPr lang="ar-EG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الشرقية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74320" y="4773168"/>
            <a:ext cx="859536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EG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شكر</a:t>
            </a: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ar-EG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وتقدير</a:t>
            </a: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ar-EG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لإدارة</a:t>
            </a: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ar-EG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المبادرة</a:t>
            </a: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ar-EG" sz="120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ولشركة </a:t>
            </a:r>
            <a:r>
              <a:rPr lang="en-US" sz="120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ITC</a:t>
            </a:r>
            <a:r>
              <a:rPr lang="ar-EG" sz="120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الشركة</a:t>
            </a:r>
            <a:r>
              <a:rPr lang="en-US" sz="120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ar-EG" sz="120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المنفذة</a:t>
            </a:r>
            <a:r>
              <a:rPr lang="en-US" sz="120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ar-EG" sz="120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لتراك </a:t>
            </a:r>
            <a:r>
              <a:rPr lang="en-US" sz="1200" b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r>
              <a:rPr lang="ar-EG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الش</a:t>
            </a: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</a:t>
            </a:r>
            <a:r>
              <a:rPr lang="ar-EG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</a:t>
            </a: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</a:t>
            </a:r>
            <a:r>
              <a:rPr lang="ar-EG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ة</a:t>
            </a:r>
            <a:endParaRPr lang="en-US" sz="12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0" y="178676"/>
            <a:ext cx="2926080" cy="4964823"/>
          </a:xfrm>
          <a:prstGeom prst="rect">
            <a:avLst/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73152"/>
            <a:ext cx="658368" cy="658368"/>
          </a:xfrm>
          <a:prstGeom prst="ellipse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73152"/>
            <a:ext cx="658368" cy="65836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82880" y="562356"/>
            <a:ext cx="2560320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182880" y="1051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182880" y="1417320"/>
            <a:ext cx="2377440" cy="0"/>
          </a:xfrm>
          <a:prstGeom prst="line">
            <a:avLst/>
          </a:prstGeom>
          <a:noFill/>
          <a:ln w="12700">
            <a:solidFill>
              <a:srgbClr val="6C63F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64592" y="1600200"/>
            <a:ext cx="2514600" cy="420624"/>
          </a:xfrm>
          <a:prstGeom prst="roundRect">
            <a:avLst>
              <a:gd name="adj" fmla="val 10870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01168" y="1600200"/>
            <a:ext cx="2468880" cy="420624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Introduction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164592" y="2112264"/>
            <a:ext cx="2514600" cy="420624"/>
          </a:xfrm>
          <a:prstGeom prst="roundRect">
            <a:avLst>
              <a:gd name="adj" fmla="val 10870"/>
            </a:avLst>
          </a:prstGeom>
          <a:solidFill>
            <a:srgbClr val="0F1526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01168" y="2112264"/>
            <a:ext cx="2468880" cy="420624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Problem Statement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164592" y="2624328"/>
            <a:ext cx="2514600" cy="420624"/>
          </a:xfrm>
          <a:prstGeom prst="roundRect">
            <a:avLst>
              <a:gd name="adj" fmla="val 10870"/>
            </a:avLst>
          </a:prstGeom>
          <a:solidFill>
            <a:srgbClr val="0F1526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01168" y="2624328"/>
            <a:ext cx="2468880" cy="420624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Solution Overview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164592" y="3136392"/>
            <a:ext cx="2514600" cy="420624"/>
          </a:xfrm>
          <a:prstGeom prst="roundRect">
            <a:avLst>
              <a:gd name="adj" fmla="val 10870"/>
            </a:avLst>
          </a:prstGeom>
          <a:solidFill>
            <a:srgbClr val="0F1526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01168" y="3136392"/>
            <a:ext cx="2468880" cy="420624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System Design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164592" y="3648456"/>
            <a:ext cx="2514600" cy="420624"/>
          </a:xfrm>
          <a:prstGeom prst="roundRect">
            <a:avLst>
              <a:gd name="adj" fmla="val 10870"/>
            </a:avLst>
          </a:prstGeom>
          <a:solidFill>
            <a:srgbClr val="0F1526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01168" y="3648456"/>
            <a:ext cx="2468880" cy="420624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Demo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164592" y="4160520"/>
            <a:ext cx="2514600" cy="420624"/>
          </a:xfrm>
          <a:prstGeom prst="roundRect">
            <a:avLst>
              <a:gd name="adj" fmla="val 10870"/>
            </a:avLst>
          </a:prstGeom>
          <a:solidFill>
            <a:srgbClr val="0F1526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01168" y="4160520"/>
            <a:ext cx="2468880" cy="420624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Conclusion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3200400" y="4572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2200" dirty="0"/>
          </a:p>
        </p:txBody>
      </p:sp>
      <p:sp>
        <p:nvSpPr>
          <p:cNvPr id="22" name="Shape 18"/>
          <p:cNvSpPr/>
          <p:nvPr/>
        </p:nvSpPr>
        <p:spPr>
          <a:xfrm>
            <a:off x="3200400" y="960120"/>
            <a:ext cx="5486400" cy="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200400" y="114300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introduces Marketly, a modern E-Commerce platform built using React, Firebase Authentication, and Cloud Firestore. It covers the project objectives, architecture, key features, implementation process, and final results.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3200400" y="2377440"/>
            <a:ext cx="1280160" cy="1188720"/>
          </a:xfrm>
          <a:prstGeom prst="roundRect">
            <a:avLst>
              <a:gd name="adj" fmla="val 6154"/>
            </a:avLst>
          </a:prstGeom>
          <a:solidFill>
            <a:srgbClr val="141B2D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200400" y="246888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3200400" y="30632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Type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663440" y="2377440"/>
            <a:ext cx="1280160" cy="1188720"/>
          </a:xfrm>
          <a:prstGeom prst="roundRect">
            <a:avLst>
              <a:gd name="adj" fmla="val 6154"/>
            </a:avLst>
          </a:prstGeom>
          <a:solidFill>
            <a:srgbClr val="141B2D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663440" y="246888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4663440" y="30632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126480" y="2377440"/>
            <a:ext cx="1280160" cy="1188720"/>
          </a:xfrm>
          <a:prstGeom prst="roundRect">
            <a:avLst>
              <a:gd name="adj" fmla="val 6154"/>
            </a:avLst>
          </a:prstGeom>
          <a:solidFill>
            <a:srgbClr val="141B2D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126480" y="246888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6126480" y="30632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Services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7589520" y="2377440"/>
            <a:ext cx="1280160" cy="1188720"/>
          </a:xfrm>
          <a:prstGeom prst="roundRect">
            <a:avLst>
              <a:gd name="adj" fmla="val 6154"/>
            </a:avLst>
          </a:prstGeom>
          <a:solidFill>
            <a:srgbClr val="141B2D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7589520" y="246888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7589520" y="30632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567558" y="0"/>
            <a:ext cx="8576441" cy="100584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73152"/>
            <a:ext cx="658368" cy="658368"/>
          </a:xfrm>
          <a:prstGeom prst="ellipse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73152"/>
            <a:ext cx="658368" cy="65836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932688" y="137160"/>
            <a:ext cx="4919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932688" y="621792"/>
            <a:ext cx="4919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· Tech Stack · Supervisor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36576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274320" y="155448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1A2340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84048" y="1783080"/>
            <a:ext cx="457200" cy="457200"/>
          </a:xfrm>
          <a:prstGeom prst="ellipse">
            <a:avLst/>
          </a:prstGeom>
          <a:solidFill>
            <a:srgbClr val="6C63FF">
              <a:alpha val="8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84048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32688" y="16642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Sohaib Ayman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32688" y="20116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200400" y="155448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1A2340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310128" y="1783080"/>
            <a:ext cx="457200" cy="457200"/>
          </a:xfrm>
          <a:prstGeom prst="ellipse">
            <a:avLst/>
          </a:prstGeom>
          <a:solidFill>
            <a:srgbClr val="4FC3F7">
              <a:alpha val="8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310128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858768" y="16642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Rawan Hamdi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858768" y="20116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274320" y="265176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1A2340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84048" y="2880360"/>
            <a:ext cx="457200" cy="457200"/>
          </a:xfrm>
          <a:prstGeom prst="ellipse">
            <a:avLst/>
          </a:prstGeom>
          <a:solidFill>
            <a:srgbClr val="00E676">
              <a:alpha val="8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84048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932688" y="27614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Hossam Hassan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932688" y="31089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200400" y="265176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1A234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3310128" y="2880360"/>
            <a:ext cx="457200" cy="457200"/>
          </a:xfrm>
          <a:prstGeom prst="ellipse">
            <a:avLst/>
          </a:prstGeom>
          <a:solidFill>
            <a:srgbClr val="FFB300">
              <a:alpha val="80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310128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3858768" y="27614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Abdelrahman Khaled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3858768" y="31089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Developer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274320" y="374904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1A2340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Shape 26"/>
          <p:cNvSpPr/>
          <p:nvPr/>
        </p:nvSpPr>
        <p:spPr>
          <a:xfrm>
            <a:off x="384048" y="3977640"/>
            <a:ext cx="457200" cy="457200"/>
          </a:xfrm>
          <a:prstGeom prst="ellipse">
            <a:avLst/>
          </a:prstGeom>
          <a:solidFill>
            <a:srgbClr val="FF5252">
              <a:alpha val="80000"/>
            </a:srgbClr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84048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400" dirty="0"/>
          </a:p>
        </p:txBody>
      </p:sp>
      <p:sp>
        <p:nvSpPr>
          <p:cNvPr id="32" name="Text 28"/>
          <p:cNvSpPr/>
          <p:nvPr/>
        </p:nvSpPr>
        <p:spPr>
          <a:xfrm>
            <a:off x="932688" y="38587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Ahmed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932688" y="42062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Developer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6126480" y="114300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263640" y="12161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Name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6263640" y="149047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Marketly</a:t>
            </a: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6126480" y="2194560"/>
            <a:ext cx="2834640" cy="987552"/>
          </a:xfrm>
          <a:prstGeom prst="roundRect">
            <a:avLst>
              <a:gd name="adj" fmla="val 8421"/>
            </a:avLst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263640" y="22677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263640" y="262432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Redux Toolkit, Firebase Authentication, Cloud Firestore, React Router, Formik &amp; Yup, Bootstrap</a:t>
            </a:r>
            <a:endParaRPr lang="en-US" sz="1200" dirty="0"/>
          </a:p>
        </p:txBody>
      </p:sp>
      <p:sp>
        <p:nvSpPr>
          <p:cNvPr id="40" name="Shape 36"/>
          <p:cNvSpPr/>
          <p:nvPr/>
        </p:nvSpPr>
        <p:spPr>
          <a:xfrm>
            <a:off x="6126480" y="3364992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263640" y="343814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263640" y="371246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73152"/>
            <a:ext cx="658368" cy="658368"/>
          </a:xfrm>
          <a:prstGeom prst="ellipse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73152"/>
            <a:ext cx="658368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303520" y="818388"/>
            <a:ext cx="3840480" cy="4325112"/>
          </a:xfrm>
          <a:prstGeom prst="rect">
            <a:avLst/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5943600" y="640080"/>
            <a:ext cx="2926080" cy="2743200"/>
          </a:xfrm>
          <a:prstGeom prst="ellipse">
            <a:avLst/>
          </a:prstGeom>
          <a:solidFill>
            <a:srgbClr val="FF5252">
              <a:alpha val="10000"/>
            </a:srgbClr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859536" y="402336"/>
            <a:ext cx="1645920" cy="347472"/>
          </a:xfrm>
          <a:prstGeom prst="roundRect">
            <a:avLst>
              <a:gd name="adj" fmla="val 13158"/>
            </a:avLst>
          </a:prstGeom>
          <a:solidFill>
            <a:srgbClr val="FF5252">
              <a:alpha val="20000"/>
            </a:srgbClr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59536" y="40233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365760" y="8229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365760" y="137160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</a:t>
            </a:r>
            <a:endParaRPr lang="en-US" sz="3200" dirty="0"/>
          </a:p>
        </p:txBody>
      </p:sp>
      <p:sp>
        <p:nvSpPr>
          <p:cNvPr id="10" name="Shape 6"/>
          <p:cNvSpPr/>
          <p:nvPr/>
        </p:nvSpPr>
        <p:spPr>
          <a:xfrm>
            <a:off x="365760" y="2011680"/>
            <a:ext cx="3200400" cy="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5760" y="214884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online stores need a reliable way to manage products, orders, and users while providing a smooth shopping experience.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solutions depend on external data sources, lack real-time updates, or make order management difficult for administrators.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577840" y="64008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0F1526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669280" y="7315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6263640" y="777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263640" y="117043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products and keeping data consistent across the platform can be challenging.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577840" y="201168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0F1526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669280" y="21031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6263640" y="2148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Tracking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263640" y="254203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need a simple way to track their orders and follow delivery progress.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5577840" y="338328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0F1526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669280" y="34747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6263640" y="3520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Reliability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6263640" y="391363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Dependence on external APIs may cause data inconsistencies and system instability.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0" y="73152"/>
            <a:ext cx="9144000" cy="1024128"/>
          </a:xfrm>
          <a:prstGeom prst="rect">
            <a:avLst/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73152"/>
            <a:ext cx="658368" cy="658368"/>
          </a:xfrm>
          <a:prstGeom prst="ellipse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73152"/>
            <a:ext cx="658368" cy="65836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320040" y="822172"/>
            <a:ext cx="1645920" cy="329184"/>
          </a:xfrm>
          <a:prstGeom prst="roundRect">
            <a:avLst>
              <a:gd name="adj" fmla="val 13889"/>
            </a:avLst>
          </a:prstGeom>
          <a:solidFill>
            <a:srgbClr val="00E676">
              <a:alpha val="2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20040" y="821436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2286000" y="1828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2286000" y="71323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Marketly provides a complete E-Commerce solution with product management, order tracking, user authentication, and administrative tools powered by Firebase and Firestore.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65760" y="128016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1A2340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65760" y="1280160"/>
            <a:ext cx="4114800" cy="365760"/>
          </a:xfrm>
          <a:prstGeom prst="roundRect">
            <a:avLst>
              <a:gd name="adj" fmla="val 25000"/>
            </a:avLst>
          </a:prstGeom>
          <a:solidFill>
            <a:srgbClr val="6C63FF">
              <a:alpha val="25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48640" y="13258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Solution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48640" y="17830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 full-featured E-Commerce platform that enables users to browse products, place orders, and track deliveries while giving administrators complete control over products, users, and orders.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754880" y="128016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1A2340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754880" y="1280160"/>
            <a:ext cx="4114800" cy="365760"/>
          </a:xfrm>
          <a:prstGeom prst="roundRect">
            <a:avLst>
              <a:gd name="adj" fmla="val 25000"/>
            </a:avLst>
          </a:prstGeom>
          <a:solidFill>
            <a:srgbClr val="00E676">
              <a:alpha val="25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937760" y="13258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754880" y="1783080"/>
            <a:ext cx="21701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 &amp; Roles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 &amp; Categories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Filters &amp; Sorting</a:t>
            </a:r>
          </a:p>
        </p:txBody>
      </p:sp>
      <p:sp>
        <p:nvSpPr>
          <p:cNvPr id="18" name="Shape 14"/>
          <p:cNvSpPr/>
          <p:nvPr/>
        </p:nvSpPr>
        <p:spPr>
          <a:xfrm>
            <a:off x="365760" y="301752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1A2340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65760" y="3017520"/>
            <a:ext cx="4114800" cy="365760"/>
          </a:xfrm>
          <a:prstGeom prst="roundRect">
            <a:avLst>
              <a:gd name="adj" fmla="val 25000"/>
            </a:avLst>
          </a:prstGeom>
          <a:solidFill>
            <a:srgbClr val="4FC3F7">
              <a:alpha val="25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48640" y="30632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48640" y="3557016"/>
            <a:ext cx="1840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Toolkit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Authentication</a:t>
            </a:r>
          </a:p>
        </p:txBody>
      </p:sp>
      <p:sp>
        <p:nvSpPr>
          <p:cNvPr id="22" name="Shape 18"/>
          <p:cNvSpPr/>
          <p:nvPr/>
        </p:nvSpPr>
        <p:spPr>
          <a:xfrm>
            <a:off x="4754880" y="301752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1A234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754880" y="3017520"/>
            <a:ext cx="4114800" cy="365760"/>
          </a:xfrm>
          <a:prstGeom prst="roundRect">
            <a:avLst>
              <a:gd name="adj" fmla="val 25000"/>
            </a:avLst>
          </a:prstGeom>
          <a:solidFill>
            <a:srgbClr val="FFB300">
              <a:alpha val="25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937760" y="30632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4754880" y="35204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product management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synchronization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user access control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order management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shopping experience</a:t>
            </a:r>
            <a:endParaRPr lang="en-US" sz="1200" dirty="0"/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DE474E71-546B-40E0-A1CB-867E0C5A94C8}"/>
              </a:ext>
            </a:extLst>
          </p:cNvPr>
          <p:cNvSpPr/>
          <p:nvPr/>
        </p:nvSpPr>
        <p:spPr>
          <a:xfrm>
            <a:off x="2456688" y="3557016"/>
            <a:ext cx="1840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Firestore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200" dirty="0"/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E949D02F-9A7A-4B8C-9ACA-236BBD78B090}"/>
              </a:ext>
            </a:extLst>
          </p:cNvPr>
          <p:cNvSpPr/>
          <p:nvPr/>
        </p:nvSpPr>
        <p:spPr>
          <a:xfrm>
            <a:off x="6989064" y="1783080"/>
            <a:ext cx="18166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Tracking System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Restore Tools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73152"/>
            <a:ext cx="658368" cy="658368"/>
          </a:xfrm>
          <a:prstGeom prst="ellipse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73152"/>
            <a:ext cx="658368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23256" y="274320"/>
            <a:ext cx="3914503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3600" dirty="0"/>
          </a:p>
        </p:txBody>
      </p:sp>
      <p:sp>
        <p:nvSpPr>
          <p:cNvPr id="5" name="Text 1"/>
          <p:cNvSpPr/>
          <p:nvPr/>
        </p:nvSpPr>
        <p:spPr>
          <a:xfrm>
            <a:off x="365760" y="91440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3600" dirty="0"/>
          </a:p>
        </p:txBody>
      </p:sp>
      <p:sp>
        <p:nvSpPr>
          <p:cNvPr id="6" name="Shape 2"/>
          <p:cNvSpPr/>
          <p:nvPr/>
        </p:nvSpPr>
        <p:spPr>
          <a:xfrm>
            <a:off x="365760" y="1920240"/>
            <a:ext cx="2468880" cy="2560320"/>
          </a:xfrm>
          <a:prstGeom prst="roundRect">
            <a:avLst>
              <a:gd name="adj" fmla="val 3704"/>
            </a:avLst>
          </a:prstGeom>
          <a:solidFill>
            <a:srgbClr val="141B2D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143000" y="2057400"/>
            <a:ext cx="914400" cy="914400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65760" y="31546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365760" y="35661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Toolkit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</a:p>
        </p:txBody>
      </p:sp>
      <p:sp>
        <p:nvSpPr>
          <p:cNvPr id="10" name="Shape 6"/>
          <p:cNvSpPr/>
          <p:nvPr/>
        </p:nvSpPr>
        <p:spPr>
          <a:xfrm>
            <a:off x="2834640" y="3200400"/>
            <a:ext cx="365760" cy="0"/>
          </a:xfrm>
          <a:prstGeom prst="line">
            <a:avLst/>
          </a:prstGeom>
          <a:noFill/>
          <a:ln w="25400">
            <a:solidFill>
              <a:srgbClr val="1E2D4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200400" y="1920240"/>
            <a:ext cx="2468880" cy="2560320"/>
          </a:xfrm>
          <a:prstGeom prst="roundRect">
            <a:avLst>
              <a:gd name="adj" fmla="val 3704"/>
            </a:avLst>
          </a:prstGeom>
          <a:solidFill>
            <a:srgbClr val="141B2D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977640" y="2057400"/>
            <a:ext cx="914400" cy="914400"/>
          </a:xfrm>
          <a:prstGeom prst="ellipse">
            <a:avLst/>
          </a:prstGeom>
          <a:solidFill>
            <a:srgbClr val="6C63FF">
              <a:alpha val="2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00400" y="31546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200400" y="35661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APIs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Control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669280" y="3200400"/>
            <a:ext cx="365760" cy="0"/>
          </a:xfrm>
          <a:prstGeom prst="line">
            <a:avLst/>
          </a:prstGeom>
          <a:noFill/>
          <a:ln w="25400">
            <a:solidFill>
              <a:srgbClr val="1E2D4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035040" y="1920240"/>
            <a:ext cx="2468880" cy="2560320"/>
          </a:xfrm>
          <a:prstGeom prst="roundRect">
            <a:avLst>
              <a:gd name="adj" fmla="val 3704"/>
            </a:avLst>
          </a:prstGeom>
          <a:solidFill>
            <a:srgbClr val="141B2D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812280" y="2057400"/>
            <a:ext cx="914400" cy="914400"/>
          </a:xfrm>
          <a:prstGeom prst="ellipse">
            <a:avLst/>
          </a:prstGeom>
          <a:solidFill>
            <a:srgbClr val="00E676">
              <a:alpha val="2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035040" y="31546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6035040" y="35661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834640" y="169743"/>
            <a:ext cx="5440680" cy="1508760"/>
          </a:xfrm>
          <a:prstGeom prst="roundRect">
            <a:avLst>
              <a:gd name="adj" fmla="val 6061"/>
            </a:avLst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2910839" y="485649"/>
            <a:ext cx="153924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3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</a:p>
          <a:p>
            <a:pPr marL="285750" indent="-285750">
              <a:buClr>
                <a:srgbClr val="8892A4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</a:p>
          <a:p>
            <a:pPr marL="285750" indent="-285750">
              <a:buClr>
                <a:srgbClr val="8892A4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Services</a:t>
            </a:r>
          </a:p>
          <a:p>
            <a:pPr marL="285750" indent="-285750">
              <a:buClr>
                <a:srgbClr val="8892A4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Firestore</a:t>
            </a:r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11612ED8-8B70-4FAD-B673-C04FCABBAF4F}"/>
              </a:ext>
            </a:extLst>
          </p:cNvPr>
          <p:cNvSpPr/>
          <p:nvPr/>
        </p:nvSpPr>
        <p:spPr>
          <a:xfrm>
            <a:off x="4498847" y="485649"/>
            <a:ext cx="1981201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3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</a:p>
          <a:p>
            <a:pPr marL="285750" indent="-285750">
              <a:buClr>
                <a:srgbClr val="8892A4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</a:p>
          <a:p>
            <a:pPr marL="285750" indent="-285750">
              <a:buClr>
                <a:srgbClr val="8892A4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</a:p>
          <a:p>
            <a:pPr marL="285750" indent="-285750">
              <a:buClr>
                <a:srgbClr val="8892A4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Orders</a:t>
            </a:r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C955B974-B51B-4504-84D9-C5403B890800}"/>
              </a:ext>
            </a:extLst>
          </p:cNvPr>
          <p:cNvSpPr/>
          <p:nvPr/>
        </p:nvSpPr>
        <p:spPr>
          <a:xfrm>
            <a:off x="6522719" y="485649"/>
            <a:ext cx="1696721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3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</a:p>
          <a:p>
            <a:pPr marL="285750" indent="-285750">
              <a:buClr>
                <a:srgbClr val="8892A4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</a:t>
            </a:r>
          </a:p>
          <a:p>
            <a:pPr marL="285750" indent="-285750">
              <a:buClr>
                <a:srgbClr val="8892A4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Processing</a:t>
            </a:r>
          </a:p>
          <a:p>
            <a:pPr marL="285750" indent="-285750">
              <a:buClr>
                <a:srgbClr val="8892A4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Storage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5EF6978-3E1E-4FA2-BF3E-7ECB54856E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4180" y="2240280"/>
            <a:ext cx="552040" cy="55204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E138151-4A00-48C1-ACDB-AB6BC49C303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214887" y="2240280"/>
            <a:ext cx="439906" cy="55204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B733253-CA3E-480F-B64E-E8BC031FB1B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956220" y="2203040"/>
            <a:ext cx="626520" cy="626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73152"/>
            <a:ext cx="658368" cy="658368"/>
          </a:xfrm>
          <a:prstGeom prst="ellipse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73152"/>
            <a:ext cx="658368" cy="65836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945930" y="274320"/>
            <a:ext cx="764942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</a:t>
            </a:r>
            <a:endParaRPr lang="en-US" sz="3400" dirty="0"/>
          </a:p>
        </p:txBody>
      </p:sp>
      <p:sp>
        <p:nvSpPr>
          <p:cNvPr id="6" name="Text 2"/>
          <p:cNvSpPr/>
          <p:nvPr/>
        </p:nvSpPr>
        <p:spPr>
          <a:xfrm>
            <a:off x="365760" y="868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3400" dirty="0"/>
          </a:p>
        </p:txBody>
      </p:sp>
      <p:sp>
        <p:nvSpPr>
          <p:cNvPr id="7" name="Shape 3"/>
          <p:cNvSpPr/>
          <p:nvPr/>
        </p:nvSpPr>
        <p:spPr>
          <a:xfrm>
            <a:off x="365760" y="1691640"/>
            <a:ext cx="4114800" cy="2560320"/>
          </a:xfrm>
          <a:prstGeom prst="roundRect">
            <a:avLst>
              <a:gd name="adj" fmla="val 3571"/>
            </a:avLst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1E2D4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65760" y="1691640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663440" y="1691640"/>
            <a:ext cx="4114800" cy="1143000"/>
          </a:xfrm>
          <a:prstGeom prst="roundRect">
            <a:avLst>
              <a:gd name="adj" fmla="val 8000"/>
            </a:avLst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2000" b="-58000"/>
            </a:stretch>
          </a:blipFill>
          <a:ln w="12700">
            <a:solidFill>
              <a:srgbClr val="1E2D4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663440" y="1691640"/>
            <a:ext cx="4114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663440" y="3017520"/>
            <a:ext cx="4114800" cy="1234440"/>
          </a:xfrm>
          <a:prstGeom prst="roundRect">
            <a:avLst>
              <a:gd name="adj" fmla="val 7407"/>
            </a:avLst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6667" b="-31481"/>
            </a:stretch>
          </a:blipFill>
          <a:ln w="12700">
            <a:solidFill>
              <a:srgbClr val="1E2D4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663440" y="3017520"/>
            <a:ext cx="4114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65760" y="4389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Screens from Marketly Platform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1360714" y="0"/>
            <a:ext cx="7783286" cy="100584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73152"/>
            <a:ext cx="658368" cy="658368"/>
          </a:xfrm>
          <a:prstGeom prst="ellipse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73152"/>
            <a:ext cx="658368" cy="65836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556656" y="137160"/>
            <a:ext cx="703870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Validation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1360714" y="621792"/>
            <a:ext cx="357704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Lighthouse Audit Results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274320" y="114300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A2340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74320" y="12344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EG" sz="4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4000" dirty="0"/>
          </a:p>
        </p:txBody>
      </p:sp>
      <p:sp>
        <p:nvSpPr>
          <p:cNvPr id="10" name="Text 6"/>
          <p:cNvSpPr/>
          <p:nvPr/>
        </p:nvSpPr>
        <p:spPr>
          <a:xfrm>
            <a:off x="274320" y="19659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423160" y="114300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A2340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423160" y="12344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EG" sz="4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2423160" y="19659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0" y="114300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A2340"/>
          </a:solidFill>
          <a:ln w="19050">
            <a:solidFill>
              <a:srgbClr val="FF525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72000" y="12344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EG" sz="40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4000" dirty="0"/>
          </a:p>
        </p:txBody>
      </p:sp>
      <p:sp>
        <p:nvSpPr>
          <p:cNvPr id="16" name="Text 12"/>
          <p:cNvSpPr/>
          <p:nvPr/>
        </p:nvSpPr>
        <p:spPr>
          <a:xfrm>
            <a:off x="4572000" y="19659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720840" y="114300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A2340"/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720840" y="12344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EG" sz="4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4000" dirty="0"/>
          </a:p>
        </p:txBody>
      </p:sp>
      <p:sp>
        <p:nvSpPr>
          <p:cNvPr id="19" name="Text 15"/>
          <p:cNvSpPr/>
          <p:nvPr/>
        </p:nvSpPr>
        <p:spPr>
          <a:xfrm>
            <a:off x="6720840" y="19659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</a:t>
            </a:r>
            <a:endParaRPr lang="en-US" sz="1000" dirty="0"/>
          </a:p>
        </p:txBody>
      </p:sp>
      <p:graphicFrame>
        <p:nvGraphicFramePr>
          <p:cNvPr id="20" name="Chart 0"/>
          <p:cNvGraphicFramePr/>
          <p:nvPr>
            <p:extLst>
              <p:ext uri="{D42A27DB-BD31-4B8C-83A1-F6EECF244321}">
                <p14:modId xmlns:p14="http://schemas.microsoft.com/office/powerpoint/2010/main" val="492842845"/>
              </p:ext>
            </p:extLst>
          </p:nvPr>
        </p:nvGraphicFramePr>
        <p:xfrm>
          <a:off x="274320" y="2651760"/>
          <a:ext cx="530352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1" name="Chart 1"/>
          <p:cNvGraphicFramePr/>
          <p:nvPr>
            <p:extLst>
              <p:ext uri="{D42A27DB-BD31-4B8C-83A1-F6EECF244321}">
                <p14:modId xmlns:p14="http://schemas.microsoft.com/office/powerpoint/2010/main" val="1323853802"/>
              </p:ext>
            </p:extLst>
          </p:nvPr>
        </p:nvGraphicFramePr>
        <p:xfrm>
          <a:off x="5669280" y="2651760"/>
          <a:ext cx="329184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73152"/>
            <a:ext cx="658368" cy="658368"/>
          </a:xfrm>
          <a:prstGeom prst="ellipse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73152"/>
            <a:ext cx="658368" cy="65836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6C63FF">
              <a:alpha val="8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-1371600" y="-914400"/>
            <a:ext cx="3200400" cy="3200400"/>
          </a:xfrm>
          <a:prstGeom prst="ellipse">
            <a:avLst/>
          </a:prstGeom>
          <a:solidFill>
            <a:srgbClr val="4FC3F7">
              <a:alpha val="1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365760" y="1371600"/>
            <a:ext cx="3657600" cy="0"/>
          </a:xfrm>
          <a:prstGeom prst="line">
            <a:avLst/>
          </a:prstGeom>
          <a:noFill/>
          <a:ln w="19050">
            <a:solidFill>
              <a:srgbClr val="6C63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68096" y="320040"/>
            <a:ext cx="50840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8" name="Shape 4"/>
          <p:cNvSpPr/>
          <p:nvPr/>
        </p:nvSpPr>
        <p:spPr>
          <a:xfrm>
            <a:off x="365760" y="1508760"/>
            <a:ext cx="5303520" cy="996406"/>
          </a:xfrm>
          <a:prstGeom prst="roundRect">
            <a:avLst>
              <a:gd name="adj" fmla="val 8421"/>
            </a:avLst>
          </a:prstGeom>
          <a:solidFill>
            <a:srgbClr val="141B2D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94360" y="150876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94360" y="19710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Marketly provides a complete e-commerce solution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product management, order tracking,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administrative control through a modern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user-friendly web application.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65760" y="2560320"/>
            <a:ext cx="5303520" cy="996406"/>
          </a:xfrm>
          <a:prstGeom prst="roundRect">
            <a:avLst>
              <a:gd name="adj" fmla="val 8421"/>
            </a:avLst>
          </a:prstGeom>
          <a:solidFill>
            <a:srgbClr val="141B2D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94360" y="256032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94360" y="30226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React &amp; Redux Toolkit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Authentication &amp; Firestore Integration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 &amp; Performance Optimization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 &amp; Project Deployment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65760" y="3611880"/>
            <a:ext cx="5303520" cy="996406"/>
          </a:xfrm>
          <a:prstGeom prst="roundRect">
            <a:avLst>
              <a:gd name="adj" fmla="val 8421"/>
            </a:avLst>
          </a:prstGeom>
          <a:solidFill>
            <a:srgbClr val="141B2D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94360" y="361188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94360" y="4074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Reviews &amp; Ratings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Functionality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Search &amp; Filtering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760720" y="1371600"/>
            <a:ext cx="3108960" cy="3474720"/>
          </a:xfrm>
          <a:prstGeom prst="roundRect">
            <a:avLst>
              <a:gd name="adj" fmla="val 3529"/>
            </a:avLst>
          </a:prstGeom>
          <a:solidFill>
            <a:srgbClr val="1A2340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760720" y="17373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</a:t>
            </a:r>
            <a:endParaRPr lang="en-US" sz="3000" dirty="0"/>
          </a:p>
        </p:txBody>
      </p:sp>
      <p:sp>
        <p:nvSpPr>
          <p:cNvPr id="19" name="Text 15"/>
          <p:cNvSpPr/>
          <p:nvPr/>
        </p:nvSpPr>
        <p:spPr>
          <a:xfrm>
            <a:off x="5760720" y="228600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You!</a:t>
            </a:r>
            <a:endParaRPr lang="en-US" sz="3000" dirty="0"/>
          </a:p>
        </p:txBody>
      </p:sp>
      <p:sp>
        <p:nvSpPr>
          <p:cNvPr id="20" name="Shape 16"/>
          <p:cNvSpPr/>
          <p:nvPr/>
        </p:nvSpPr>
        <p:spPr>
          <a:xfrm>
            <a:off x="6217920" y="2971800"/>
            <a:ext cx="2194560" cy="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760720" y="31546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Sohaib Ayman — Team Leader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 Graduation 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536</Words>
  <Application>Microsoft Office PowerPoint</Application>
  <PresentationFormat>On-screen Show (16:9)</PresentationFormat>
  <Paragraphs>164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ITC Graduation Project</dc:title>
  <dc:subject>PptxGenJS Presentation</dc:subject>
  <dc:creator>PptxGenJS</dc:creator>
  <cp:lastModifiedBy>Sohaib Ayman</cp:lastModifiedBy>
  <cp:revision>10</cp:revision>
  <dcterms:created xsi:type="dcterms:W3CDTF">2026-06-22T16:21:38Z</dcterms:created>
  <dcterms:modified xsi:type="dcterms:W3CDTF">2026-06-23T07:52:23Z</dcterms:modified>
</cp:coreProperties>
</file>
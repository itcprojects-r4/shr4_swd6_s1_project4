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C63FF"/>
    <a:srgbClr val="00E676"/>
    <a:srgbClr val="FF5252"/>
    <a:srgbClr val="FFB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2" d="100"/>
          <a:sy n="112" d="100"/>
        </p:scale>
        <p:origin x="610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Test Results</c:v>
                </c:pt>
              </c:strCache>
            </c:strRef>
          </c:tx>
          <c:spPr>
            <a:solidFill>
              <a:srgbClr val="00E676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6C63F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3B2E-4AE9-AFA4-1B6F51D2C955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3B2E-4AE9-AFA4-1B6F51D2C955}"/>
              </c:ext>
            </c:extLst>
          </c:dPt>
          <c:dPt>
            <c:idx val="2"/>
            <c:invertIfNegative val="0"/>
            <c:bubble3D val="0"/>
            <c:spPr>
              <a:solidFill>
                <a:srgbClr val="FF525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3B2E-4AE9-AFA4-1B6F51D2C955}"/>
              </c:ext>
            </c:extLst>
          </c:dPt>
          <c:dPt>
            <c:idx val="3"/>
            <c:invertIfNegative val="0"/>
            <c:bubble3D val="0"/>
            <c:spPr>
              <a:solidFill>
                <a:srgbClr val="FFB30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6-3708-4076-9716-0C1D829CC847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F1F5F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Performance</c:v>
                </c:pt>
                <c:pt idx="1">
                  <c:v>Accessibility</c:v>
                </c:pt>
                <c:pt idx="2">
                  <c:v>Best Practices</c:v>
                </c:pt>
                <c:pt idx="3">
                  <c:v>SEO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88</c:v>
                </c:pt>
                <c:pt idx="1">
                  <c:v>93</c:v>
                </c:pt>
                <c:pt idx="2">
                  <c:v>96</c:v>
                </c:pt>
                <c:pt idx="3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3B2E-4AE9-AFA4-1B6F51D2C955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892A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1E2D4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892A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0A0E1A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Pass/Fail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0E67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A8FC-4C36-872A-0319713CEDE8}"/>
              </c:ext>
            </c:extLst>
          </c:dPt>
          <c:dPt>
            <c:idx val="1"/>
            <c:bubble3D val="0"/>
            <c:spPr>
              <a:solidFill>
                <a:srgbClr val="FF525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A8FC-4C36-872A-0319713CEDE8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A8FC-4C36-872A-0319713CEDE8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A8FC-4C36-872A-0319713CEDE8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Sheet1!$A$2:$A$3</c:f>
              <c:strCache>
                <c:ptCount val="2"/>
                <c:pt idx="0">
                  <c:v>Optimized (94%)</c:v>
                </c:pt>
                <c:pt idx="1">
                  <c:v>Improvement Opportunity (6%)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94</c:v>
                </c:pt>
                <c:pt idx="1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A8FC-4C36-872A-0319713CEDE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legendEntry>
        <c:idx val="0"/>
        <c:txPr>
          <a:bodyPr/>
          <a:lstStyle/>
          <a:p>
            <a:pPr>
              <a:defRPr sz="1000" baseline="0">
                <a:solidFill>
                  <a:schemeClr val="bg1"/>
                </a:solidFill>
              </a:defRPr>
            </a:pPr>
            <a:endParaRPr lang="en-US"/>
          </a:p>
        </c:txPr>
      </c:legendEntry>
      <c:legendEntry>
        <c:idx val="1"/>
        <c:txPr>
          <a:bodyPr/>
          <a:lstStyle/>
          <a:p>
            <a:pPr>
              <a:defRPr sz="1000" baseline="0">
                <a:solidFill>
                  <a:schemeClr val="bg1"/>
                </a:solidFill>
              </a:defRPr>
            </a:pPr>
            <a:endParaRPr lang="en-US"/>
          </a:p>
        </c:txPr>
      </c:legendEntry>
      <c:overlay val="0"/>
      <c:txPr>
        <a:bodyPr/>
        <a:lstStyle/>
        <a:p>
          <a:pPr>
            <a:defRPr sz="1000"/>
          </a:pPr>
          <a:endParaRPr lang="en-US"/>
        </a:p>
      </c:txPr>
    </c:legend>
    <c:plotVisOnly val="1"/>
    <c:dispBlanksAs val="span"/>
    <c:showDLblsOverMax val="1"/>
  </c:chart>
  <c:spPr>
    <a:solidFill>
      <a:srgbClr val="0A0E1A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924135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chart" Target="../charts/chart2.xml"/><Relationship Id="rId5" Type="http://schemas.openxmlformats.org/officeDocument/2006/relationships/chart" Target="../charts/chart1.xml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6C63FF"/>
          </a:solidFill>
          <a:ln w="12700">
            <a:solidFill>
              <a:srgbClr val="6C63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132320" y="-548640"/>
            <a:ext cx="2560320" cy="2560320"/>
          </a:xfrm>
          <a:prstGeom prst="ellipse">
            <a:avLst/>
          </a:prstGeom>
          <a:solidFill>
            <a:srgbClr val="6C63FF">
              <a:alpha val="15000"/>
            </a:srgbClr>
          </a:solidFill>
          <a:ln w="12700">
            <a:solidFill>
              <a:srgbClr val="6C63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0" y="-182880"/>
            <a:ext cx="1463040" cy="1463040"/>
          </a:xfrm>
          <a:prstGeom prst="ellipse">
            <a:avLst/>
          </a:prstGeom>
          <a:solidFill>
            <a:srgbClr val="4FC3F7">
              <a:alpha val="20000"/>
            </a:srgbClr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-457200" y="3840480"/>
            <a:ext cx="2011680" cy="2011680"/>
          </a:xfrm>
          <a:prstGeom prst="ellipse">
            <a:avLst/>
          </a:prstGeom>
          <a:solidFill>
            <a:srgbClr val="4FC3F7">
              <a:alpha val="12000"/>
            </a:srgbClr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468880"/>
            <a:ext cx="4114800" cy="0"/>
          </a:xfrm>
          <a:prstGeom prst="line">
            <a:avLst/>
          </a:prstGeom>
          <a:noFill/>
          <a:ln w="19050">
            <a:solidFill>
              <a:srgbClr val="6C63FF"/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" y="73152"/>
            <a:ext cx="658368" cy="658368"/>
          </a:xfrm>
          <a:prstGeom prst="ellipse">
            <a:avLst/>
          </a:prstGeom>
        </p:spPr>
      </p:pic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5904" y="73152"/>
            <a:ext cx="658368" cy="65836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14400" y="320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ITC — Information Technology Colleague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14400" y="658368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رواد مصر الرقمية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548640" y="1051560"/>
            <a:ext cx="7772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800" b="1" kern="0" spc="200" dirty="0">
                <a:solidFill>
                  <a:srgbClr val="F1F5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GRADUATION</a:t>
            </a:r>
            <a:endParaRPr lang="en-US" sz="5800" dirty="0"/>
          </a:p>
        </p:txBody>
      </p:sp>
      <p:sp>
        <p:nvSpPr>
          <p:cNvPr id="12" name="Text 8"/>
          <p:cNvSpPr/>
          <p:nvPr/>
        </p:nvSpPr>
        <p:spPr>
          <a:xfrm>
            <a:off x="548640" y="1755648"/>
            <a:ext cx="7772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800" b="1" kern="0" spc="200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</a:t>
            </a:r>
            <a:endParaRPr lang="en-US" sz="5800" dirty="0"/>
          </a:p>
        </p:txBody>
      </p:sp>
      <p:sp>
        <p:nvSpPr>
          <p:cNvPr id="13" name="Text 9"/>
          <p:cNvSpPr/>
          <p:nvPr/>
        </p:nvSpPr>
        <p:spPr>
          <a:xfrm>
            <a:off x="548640" y="265176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kern="0" spc="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Powerful  •  Modern  •  Premium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548640" y="4187952"/>
            <a:ext cx="1828800" cy="365760"/>
          </a:xfrm>
          <a:prstGeom prst="roundRect">
            <a:avLst>
              <a:gd name="adj" fmla="val 12500"/>
            </a:avLst>
          </a:prstGeom>
          <a:solidFill>
            <a:srgbClr val="6C63FF">
              <a:alpha val="20000"/>
            </a:srgbClr>
          </a:solidFill>
          <a:ln w="12700">
            <a:solidFill>
              <a:srgbClr val="6C63FF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548640" y="4187952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2651760" y="4187952"/>
            <a:ext cx="1828800" cy="365760"/>
          </a:xfrm>
          <a:prstGeom prst="roundRect">
            <a:avLst>
              <a:gd name="adj" fmla="val 12500"/>
            </a:avLst>
          </a:prstGeom>
          <a:solidFill>
            <a:srgbClr val="4FC3F7">
              <a:alpha val="20000"/>
            </a:srgbClr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2651760" y="4187952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E-Commerce Platform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4754880" y="4187952"/>
            <a:ext cx="1828800" cy="365760"/>
          </a:xfrm>
          <a:prstGeom prst="roundRect">
            <a:avLst>
              <a:gd name="adj" fmla="val 12500"/>
            </a:avLst>
          </a:prstGeom>
          <a:solidFill>
            <a:srgbClr val="00E676">
              <a:alpha val="20000"/>
            </a:srgbClr>
          </a:solidFill>
          <a:ln w="12700">
            <a:solidFill>
              <a:srgbClr val="00E67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4754880" y="4187952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E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 / 2026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6903720" y="4069080"/>
            <a:ext cx="2148840" cy="621792"/>
          </a:xfrm>
          <a:prstGeom prst="roundRect">
            <a:avLst>
              <a:gd name="adj" fmla="val 11765"/>
            </a:avLst>
          </a:prstGeom>
          <a:solidFill>
            <a:srgbClr val="6C63FF">
              <a:alpha val="85000"/>
            </a:srgbClr>
          </a:solidFill>
          <a:ln w="19050">
            <a:solidFill>
              <a:srgbClr val="6C63FF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903720" y="4087368"/>
            <a:ext cx="2148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100" dirty="0">
                <a:solidFill>
                  <a:srgbClr val="F1F5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SHR4_SWD2_S1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6903720" y="4398264"/>
            <a:ext cx="2148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</a:t>
            </a:r>
            <a:r>
              <a:rPr lang="ar-EG" sz="1000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الشرقية</a:t>
            </a:r>
            <a:endParaRPr lang="en-US" sz="1000" dirty="0"/>
          </a:p>
        </p:txBody>
      </p:sp>
      <p:sp>
        <p:nvSpPr>
          <p:cNvPr id="23" name="Shape 19"/>
          <p:cNvSpPr/>
          <p:nvPr/>
        </p:nvSpPr>
        <p:spPr>
          <a:xfrm>
            <a:off x="0" y="4773168"/>
            <a:ext cx="9144000" cy="370332"/>
          </a:xfrm>
          <a:prstGeom prst="rect">
            <a:avLst/>
          </a:prstGeom>
          <a:solidFill>
            <a:srgbClr val="141B2D"/>
          </a:solidFill>
          <a:ln w="12700">
            <a:solidFill>
              <a:srgbClr val="1E2D4A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274320" y="4773168"/>
            <a:ext cx="8595360" cy="3703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 rtl="1">
              <a:buNone/>
            </a:pPr>
            <a:r>
              <a:rPr lang="ar-EG" sz="1200" b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شكر</a:t>
            </a:r>
            <a:r>
              <a:rPr lang="en-US" sz="1200" b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ar-EG" sz="1200" b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وتقدير</a:t>
            </a:r>
            <a:r>
              <a:rPr lang="en-US" sz="1200" b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ar-EG" sz="1200" b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لإدارة</a:t>
            </a:r>
            <a:r>
              <a:rPr lang="en-US" sz="1200" b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ar-EG" sz="1200" b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المبادرة</a:t>
            </a:r>
            <a:r>
              <a:rPr lang="en-US" sz="1200" b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ar-EG" sz="1200" b="1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ولشركة </a:t>
            </a:r>
            <a:r>
              <a:rPr lang="en-US" sz="1200" b="1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ITC</a:t>
            </a:r>
            <a:r>
              <a:rPr lang="ar-EG" sz="1200" b="1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الشركة</a:t>
            </a:r>
            <a:r>
              <a:rPr lang="en-US" sz="1200" b="1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ar-EG" sz="1200" b="1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المنفذة</a:t>
            </a:r>
            <a:r>
              <a:rPr lang="en-US" sz="1200" b="1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ar-EG" sz="1200" b="1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لتراك </a:t>
            </a:r>
            <a:r>
              <a:rPr lang="en-US" sz="1200" b="1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</a:t>
            </a:r>
            <a:r>
              <a:rPr lang="ar-EG" sz="120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الش</a:t>
            </a:r>
            <a:r>
              <a:rPr lang="en-US" sz="120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ر</a:t>
            </a:r>
            <a:r>
              <a:rPr lang="ar-EG" sz="120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ق</a:t>
            </a:r>
            <a:r>
              <a:rPr lang="en-US" sz="120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ي</a:t>
            </a:r>
            <a:r>
              <a:rPr lang="ar-EG" sz="120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ة</a:t>
            </a:r>
            <a:endParaRPr lang="en-US" sz="1200" b="1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0"/>
          <p:cNvSpPr/>
          <p:nvPr/>
        </p:nvSpPr>
        <p:spPr>
          <a:xfrm>
            <a:off x="0" y="178676"/>
            <a:ext cx="2926080" cy="4964823"/>
          </a:xfrm>
          <a:prstGeom prst="rect">
            <a:avLst/>
          </a:prstGeom>
          <a:solidFill>
            <a:srgbClr val="141B2D"/>
          </a:solidFill>
          <a:ln w="12700">
            <a:solidFill>
              <a:srgbClr val="1E2D4A"/>
            </a:solidFill>
            <a:prstDash val="solid"/>
          </a:ln>
        </p:spPr>
      </p:sp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" y="73152"/>
            <a:ext cx="658368" cy="658368"/>
          </a:xfrm>
          <a:prstGeom prst="ellipse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5904" y="73152"/>
            <a:ext cx="658368" cy="65836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6C63FF"/>
          </a:solidFill>
          <a:ln w="12700">
            <a:solidFill>
              <a:srgbClr val="6C63FF"/>
            </a:solidFill>
            <a:prstDash val="solid"/>
          </a:ln>
        </p:spPr>
      </p:sp>
      <p:sp>
        <p:nvSpPr>
          <p:cNvPr id="6" name="Text 2"/>
          <p:cNvSpPr/>
          <p:nvPr/>
        </p:nvSpPr>
        <p:spPr>
          <a:xfrm>
            <a:off x="182880" y="562356"/>
            <a:ext cx="2560320" cy="5349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300" dirty="0">
                <a:solidFill>
                  <a:srgbClr val="F1F5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2800" dirty="0"/>
          </a:p>
        </p:txBody>
      </p:sp>
      <p:sp>
        <p:nvSpPr>
          <p:cNvPr id="7" name="Text 3"/>
          <p:cNvSpPr/>
          <p:nvPr/>
        </p:nvSpPr>
        <p:spPr>
          <a:xfrm>
            <a:off x="182880" y="105156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we'll cover today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182880" y="1417320"/>
            <a:ext cx="2377440" cy="0"/>
          </a:xfrm>
          <a:prstGeom prst="line">
            <a:avLst/>
          </a:prstGeom>
          <a:noFill/>
          <a:ln w="12700">
            <a:solidFill>
              <a:srgbClr val="6C63FF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164592" y="1600200"/>
            <a:ext cx="2514600" cy="420624"/>
          </a:xfrm>
          <a:prstGeom prst="roundRect">
            <a:avLst>
              <a:gd name="adj" fmla="val 10870"/>
            </a:avLst>
          </a:prstGeom>
          <a:solidFill>
            <a:srgbClr val="6C63FF"/>
          </a:solidFill>
          <a:ln w="12700">
            <a:solidFill>
              <a:srgbClr val="6C63FF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201168" y="1600200"/>
            <a:ext cx="2468880" cy="420624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1F5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Introduction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164592" y="2112264"/>
            <a:ext cx="2514600" cy="420624"/>
          </a:xfrm>
          <a:prstGeom prst="roundRect">
            <a:avLst>
              <a:gd name="adj" fmla="val 10870"/>
            </a:avLst>
          </a:prstGeom>
          <a:solidFill>
            <a:srgbClr val="0F1526"/>
          </a:solidFill>
          <a:ln w="12700">
            <a:solidFill>
              <a:srgbClr val="1E2D4A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201168" y="2112264"/>
            <a:ext cx="2468880" cy="420624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Problem Statement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164592" y="2624328"/>
            <a:ext cx="2514600" cy="420624"/>
          </a:xfrm>
          <a:prstGeom prst="roundRect">
            <a:avLst>
              <a:gd name="adj" fmla="val 10870"/>
            </a:avLst>
          </a:prstGeom>
          <a:solidFill>
            <a:srgbClr val="0F1526"/>
          </a:solidFill>
          <a:ln w="12700">
            <a:solidFill>
              <a:srgbClr val="1E2D4A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201168" y="2624328"/>
            <a:ext cx="2468880" cy="420624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Solution Overview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164592" y="3136392"/>
            <a:ext cx="2514600" cy="420624"/>
          </a:xfrm>
          <a:prstGeom prst="roundRect">
            <a:avLst>
              <a:gd name="adj" fmla="val 10870"/>
            </a:avLst>
          </a:prstGeom>
          <a:solidFill>
            <a:srgbClr val="0F1526"/>
          </a:solidFill>
          <a:ln w="12700">
            <a:solidFill>
              <a:srgbClr val="1E2D4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201168" y="3136392"/>
            <a:ext cx="2468880" cy="420624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System Design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164592" y="3648456"/>
            <a:ext cx="2514600" cy="420624"/>
          </a:xfrm>
          <a:prstGeom prst="roundRect">
            <a:avLst>
              <a:gd name="adj" fmla="val 10870"/>
            </a:avLst>
          </a:prstGeom>
          <a:solidFill>
            <a:srgbClr val="0F1526"/>
          </a:solidFill>
          <a:ln w="12700">
            <a:solidFill>
              <a:srgbClr val="1E2D4A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201168" y="3648456"/>
            <a:ext cx="2468880" cy="420624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Demo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164592" y="4160520"/>
            <a:ext cx="2514600" cy="420624"/>
          </a:xfrm>
          <a:prstGeom prst="roundRect">
            <a:avLst>
              <a:gd name="adj" fmla="val 10870"/>
            </a:avLst>
          </a:prstGeom>
          <a:solidFill>
            <a:srgbClr val="0F1526"/>
          </a:solidFill>
          <a:ln w="12700">
            <a:solidFill>
              <a:srgbClr val="1E2D4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201168" y="4160520"/>
            <a:ext cx="2468880" cy="420624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Conclusion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3200400" y="457200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1F5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2200" dirty="0"/>
          </a:p>
        </p:txBody>
      </p:sp>
      <p:sp>
        <p:nvSpPr>
          <p:cNvPr id="22" name="Shape 18"/>
          <p:cNvSpPr/>
          <p:nvPr/>
        </p:nvSpPr>
        <p:spPr>
          <a:xfrm>
            <a:off x="3200400" y="960120"/>
            <a:ext cx="5486400" cy="0"/>
          </a:xfrm>
          <a:prstGeom prst="line">
            <a:avLst/>
          </a:prstGeom>
          <a:noFill/>
          <a:ln w="6350">
            <a:solidFill>
              <a:srgbClr val="1E2D4A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3200400" y="1143000"/>
            <a:ext cx="5303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presentation introduces Marketly, a modern E-Commerce platform built using React, Firebase Authentication, and Cloud Firestore. It covers the project objectives, architecture, key features, implementation process, and final results.</a:t>
            </a:r>
            <a:endParaRPr lang="en-US" sz="1300" dirty="0"/>
          </a:p>
        </p:txBody>
      </p:sp>
      <p:sp>
        <p:nvSpPr>
          <p:cNvPr id="24" name="Shape 20"/>
          <p:cNvSpPr/>
          <p:nvPr/>
        </p:nvSpPr>
        <p:spPr>
          <a:xfrm>
            <a:off x="3200400" y="2377440"/>
            <a:ext cx="1280160" cy="1188720"/>
          </a:xfrm>
          <a:prstGeom prst="roundRect">
            <a:avLst>
              <a:gd name="adj" fmla="val 6154"/>
            </a:avLst>
          </a:prstGeom>
          <a:solidFill>
            <a:srgbClr val="141B2D"/>
          </a:solidFill>
          <a:ln w="12700">
            <a:solidFill>
              <a:srgbClr val="6C63FF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3200400" y="2468880"/>
            <a:ext cx="1280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E-Commerce</a:t>
            </a:r>
            <a:endParaRPr lang="en-US" sz="1600" dirty="0"/>
          </a:p>
        </p:txBody>
      </p:sp>
      <p:sp>
        <p:nvSpPr>
          <p:cNvPr id="26" name="Text 22"/>
          <p:cNvSpPr/>
          <p:nvPr/>
        </p:nvSpPr>
        <p:spPr>
          <a:xfrm>
            <a:off x="3200400" y="3063240"/>
            <a:ext cx="1280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Type</a:t>
            </a:r>
            <a:endParaRPr lang="en-US" sz="1000" dirty="0"/>
          </a:p>
        </p:txBody>
      </p:sp>
      <p:sp>
        <p:nvSpPr>
          <p:cNvPr id="27" name="Shape 23"/>
          <p:cNvSpPr/>
          <p:nvPr/>
        </p:nvSpPr>
        <p:spPr>
          <a:xfrm>
            <a:off x="4663440" y="2377440"/>
            <a:ext cx="1280160" cy="1188720"/>
          </a:xfrm>
          <a:prstGeom prst="roundRect">
            <a:avLst>
              <a:gd name="adj" fmla="val 6154"/>
            </a:avLst>
          </a:prstGeom>
          <a:solidFill>
            <a:srgbClr val="141B2D"/>
          </a:solidFill>
          <a:ln w="12700">
            <a:solidFill>
              <a:srgbClr val="00E676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4663440" y="2468880"/>
            <a:ext cx="1280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E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</a:t>
            </a:r>
            <a:endParaRPr lang="en-US" sz="1600" dirty="0"/>
          </a:p>
        </p:txBody>
      </p:sp>
      <p:sp>
        <p:nvSpPr>
          <p:cNvPr id="29" name="Text 25"/>
          <p:cNvSpPr/>
          <p:nvPr/>
        </p:nvSpPr>
        <p:spPr>
          <a:xfrm>
            <a:off x="4663440" y="3063240"/>
            <a:ext cx="1280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000" dirty="0"/>
          </a:p>
        </p:txBody>
      </p:sp>
      <p:sp>
        <p:nvSpPr>
          <p:cNvPr id="30" name="Shape 26"/>
          <p:cNvSpPr/>
          <p:nvPr/>
        </p:nvSpPr>
        <p:spPr>
          <a:xfrm>
            <a:off x="6126480" y="2377440"/>
            <a:ext cx="1280160" cy="1188720"/>
          </a:xfrm>
          <a:prstGeom prst="roundRect">
            <a:avLst>
              <a:gd name="adj" fmla="val 6154"/>
            </a:avLst>
          </a:prstGeom>
          <a:solidFill>
            <a:srgbClr val="141B2D"/>
          </a:solidFill>
          <a:ln w="12700">
            <a:solidFill>
              <a:srgbClr val="FF5252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6126480" y="2468880"/>
            <a:ext cx="1280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</a:t>
            </a:r>
            <a:endParaRPr lang="en-US" sz="1600" dirty="0"/>
          </a:p>
        </p:txBody>
      </p:sp>
      <p:sp>
        <p:nvSpPr>
          <p:cNvPr id="32" name="Text 28"/>
          <p:cNvSpPr/>
          <p:nvPr/>
        </p:nvSpPr>
        <p:spPr>
          <a:xfrm>
            <a:off x="6126480" y="3063240"/>
            <a:ext cx="1280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Services</a:t>
            </a:r>
            <a:endParaRPr lang="en-US" sz="1000" dirty="0"/>
          </a:p>
        </p:txBody>
      </p:sp>
      <p:sp>
        <p:nvSpPr>
          <p:cNvPr id="33" name="Shape 29"/>
          <p:cNvSpPr/>
          <p:nvPr/>
        </p:nvSpPr>
        <p:spPr>
          <a:xfrm>
            <a:off x="7589520" y="2377440"/>
            <a:ext cx="1280160" cy="1188720"/>
          </a:xfrm>
          <a:prstGeom prst="roundRect">
            <a:avLst>
              <a:gd name="adj" fmla="val 6154"/>
            </a:avLst>
          </a:prstGeom>
          <a:solidFill>
            <a:srgbClr val="141B2D"/>
          </a:solidFill>
          <a:ln w="12700">
            <a:solidFill>
              <a:srgbClr val="FFB300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7589520" y="2468880"/>
            <a:ext cx="1280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Firestore</a:t>
            </a:r>
            <a:endParaRPr lang="en-US" sz="1600" dirty="0"/>
          </a:p>
        </p:txBody>
      </p:sp>
      <p:sp>
        <p:nvSpPr>
          <p:cNvPr id="35" name="Text 31"/>
          <p:cNvSpPr/>
          <p:nvPr/>
        </p:nvSpPr>
        <p:spPr>
          <a:xfrm>
            <a:off x="7589520" y="3063240"/>
            <a:ext cx="1280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0"/>
          <p:cNvSpPr/>
          <p:nvPr/>
        </p:nvSpPr>
        <p:spPr>
          <a:xfrm>
            <a:off x="567558" y="0"/>
            <a:ext cx="8576441" cy="1005840"/>
          </a:xfrm>
          <a:prstGeom prst="rect">
            <a:avLst/>
          </a:prstGeom>
          <a:solidFill>
            <a:srgbClr val="141B2D"/>
          </a:solidFill>
          <a:ln w="12700">
            <a:solidFill>
              <a:srgbClr val="1E2D4A"/>
            </a:solidFill>
            <a:prstDash val="solid"/>
          </a:ln>
        </p:spPr>
      </p:sp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" y="73152"/>
            <a:ext cx="658368" cy="658368"/>
          </a:xfrm>
          <a:prstGeom prst="ellipse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5904" y="73152"/>
            <a:ext cx="658368" cy="65836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6C63FF"/>
          </a:solidFill>
          <a:ln w="12700">
            <a:solidFill>
              <a:srgbClr val="6C63FF"/>
            </a:solidFill>
            <a:prstDash val="solid"/>
          </a:ln>
        </p:spPr>
      </p:sp>
      <p:sp>
        <p:nvSpPr>
          <p:cNvPr id="6" name="Text 2"/>
          <p:cNvSpPr/>
          <p:nvPr/>
        </p:nvSpPr>
        <p:spPr>
          <a:xfrm>
            <a:off x="932688" y="137160"/>
            <a:ext cx="49194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1F5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Overview</a:t>
            </a:r>
            <a:endParaRPr lang="en-US" sz="2600" dirty="0"/>
          </a:p>
        </p:txBody>
      </p:sp>
      <p:sp>
        <p:nvSpPr>
          <p:cNvPr id="7" name="Text 3"/>
          <p:cNvSpPr/>
          <p:nvPr/>
        </p:nvSpPr>
        <p:spPr>
          <a:xfrm>
            <a:off x="932688" y="621792"/>
            <a:ext cx="49194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· Tech Stack · Supervisor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365760" y="11430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274320" y="1554480"/>
            <a:ext cx="2743200" cy="914400"/>
          </a:xfrm>
          <a:prstGeom prst="roundRect">
            <a:avLst>
              <a:gd name="adj" fmla="val 8000"/>
            </a:avLst>
          </a:prstGeom>
          <a:solidFill>
            <a:srgbClr val="1A2340"/>
          </a:solidFill>
          <a:ln w="12700">
            <a:solidFill>
              <a:srgbClr val="6C63FF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384048" y="1783080"/>
            <a:ext cx="457200" cy="457200"/>
          </a:xfrm>
          <a:prstGeom prst="ellipse">
            <a:avLst/>
          </a:prstGeom>
          <a:solidFill>
            <a:srgbClr val="6C63FF">
              <a:alpha val="80000"/>
            </a:srgbClr>
          </a:solidFill>
          <a:ln w="12700">
            <a:solidFill>
              <a:srgbClr val="6C63FF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384048" y="1783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1F5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932688" y="1664208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1F5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Sohaib Ayman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932688" y="201168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Leader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3200400" y="1554480"/>
            <a:ext cx="2743200" cy="914400"/>
          </a:xfrm>
          <a:prstGeom prst="roundRect">
            <a:avLst>
              <a:gd name="adj" fmla="val 8000"/>
            </a:avLst>
          </a:prstGeom>
          <a:solidFill>
            <a:srgbClr val="1A2340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3310128" y="1783080"/>
            <a:ext cx="457200" cy="457200"/>
          </a:xfrm>
          <a:prstGeom prst="ellipse">
            <a:avLst/>
          </a:prstGeom>
          <a:solidFill>
            <a:srgbClr val="4FC3F7">
              <a:alpha val="80000"/>
            </a:srgbClr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3310128" y="1783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1F5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3858768" y="1664208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1F5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Rawan Hamdi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3858768" y="201168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Developer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274320" y="2651760"/>
            <a:ext cx="2743200" cy="914400"/>
          </a:xfrm>
          <a:prstGeom prst="roundRect">
            <a:avLst>
              <a:gd name="adj" fmla="val 8000"/>
            </a:avLst>
          </a:prstGeom>
          <a:solidFill>
            <a:srgbClr val="1A2340"/>
          </a:solidFill>
          <a:ln w="12700">
            <a:solidFill>
              <a:srgbClr val="00E67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384048" y="2880360"/>
            <a:ext cx="457200" cy="457200"/>
          </a:xfrm>
          <a:prstGeom prst="ellipse">
            <a:avLst/>
          </a:prstGeom>
          <a:solidFill>
            <a:srgbClr val="00E676">
              <a:alpha val="80000"/>
            </a:srgbClr>
          </a:solidFill>
          <a:ln w="12700">
            <a:solidFill>
              <a:srgbClr val="00E676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384048" y="2880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1F5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</a:t>
            </a:r>
            <a:endParaRPr lang="en-US" sz="1400" dirty="0"/>
          </a:p>
        </p:txBody>
      </p:sp>
      <p:sp>
        <p:nvSpPr>
          <p:cNvPr id="22" name="Text 18"/>
          <p:cNvSpPr/>
          <p:nvPr/>
        </p:nvSpPr>
        <p:spPr>
          <a:xfrm>
            <a:off x="932688" y="2761488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1F5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Hossam Hassan</a:t>
            </a:r>
            <a:endParaRPr lang="en-US" sz="1300" dirty="0"/>
          </a:p>
        </p:txBody>
      </p:sp>
      <p:sp>
        <p:nvSpPr>
          <p:cNvPr id="23" name="Text 19"/>
          <p:cNvSpPr/>
          <p:nvPr/>
        </p:nvSpPr>
        <p:spPr>
          <a:xfrm>
            <a:off x="932688" y="310896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E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Developer</a:t>
            </a:r>
            <a:endParaRPr lang="en-US" sz="1000" dirty="0"/>
          </a:p>
        </p:txBody>
      </p:sp>
      <p:sp>
        <p:nvSpPr>
          <p:cNvPr id="24" name="Shape 20"/>
          <p:cNvSpPr/>
          <p:nvPr/>
        </p:nvSpPr>
        <p:spPr>
          <a:xfrm>
            <a:off x="3200400" y="2651760"/>
            <a:ext cx="2743200" cy="914400"/>
          </a:xfrm>
          <a:prstGeom prst="roundRect">
            <a:avLst>
              <a:gd name="adj" fmla="val 8000"/>
            </a:avLst>
          </a:prstGeom>
          <a:solidFill>
            <a:srgbClr val="1A2340"/>
          </a:solidFill>
          <a:ln w="12700">
            <a:solidFill>
              <a:srgbClr val="FFB300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3310128" y="2880360"/>
            <a:ext cx="457200" cy="457200"/>
          </a:xfrm>
          <a:prstGeom prst="ellipse">
            <a:avLst/>
          </a:prstGeom>
          <a:solidFill>
            <a:srgbClr val="FFB300">
              <a:alpha val="80000"/>
            </a:srgbClr>
          </a:solidFill>
          <a:ln w="12700">
            <a:solidFill>
              <a:srgbClr val="FFB300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3310128" y="2880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1F5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400" dirty="0"/>
          </a:p>
        </p:txBody>
      </p:sp>
      <p:sp>
        <p:nvSpPr>
          <p:cNvPr id="27" name="Text 23"/>
          <p:cNvSpPr/>
          <p:nvPr/>
        </p:nvSpPr>
        <p:spPr>
          <a:xfrm>
            <a:off x="3858768" y="2761488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1F5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Abdelrahman Khaled</a:t>
            </a:r>
            <a:endParaRPr lang="en-US" sz="1300" dirty="0"/>
          </a:p>
        </p:txBody>
      </p:sp>
      <p:sp>
        <p:nvSpPr>
          <p:cNvPr id="28" name="Text 24"/>
          <p:cNvSpPr/>
          <p:nvPr/>
        </p:nvSpPr>
        <p:spPr>
          <a:xfrm>
            <a:off x="3858768" y="310896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Developer</a:t>
            </a:r>
            <a:endParaRPr lang="en-US" sz="1000" dirty="0"/>
          </a:p>
        </p:txBody>
      </p:sp>
      <p:sp>
        <p:nvSpPr>
          <p:cNvPr id="29" name="Shape 25"/>
          <p:cNvSpPr/>
          <p:nvPr/>
        </p:nvSpPr>
        <p:spPr>
          <a:xfrm>
            <a:off x="274320" y="3749040"/>
            <a:ext cx="2743200" cy="914400"/>
          </a:xfrm>
          <a:prstGeom prst="roundRect">
            <a:avLst>
              <a:gd name="adj" fmla="val 8000"/>
            </a:avLst>
          </a:prstGeom>
          <a:solidFill>
            <a:srgbClr val="1A2340"/>
          </a:solidFill>
          <a:ln w="12700">
            <a:solidFill>
              <a:srgbClr val="FF5252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30" name="Shape 26"/>
          <p:cNvSpPr/>
          <p:nvPr/>
        </p:nvSpPr>
        <p:spPr>
          <a:xfrm>
            <a:off x="384048" y="3977640"/>
            <a:ext cx="457200" cy="457200"/>
          </a:xfrm>
          <a:prstGeom prst="ellipse">
            <a:avLst/>
          </a:prstGeom>
          <a:solidFill>
            <a:srgbClr val="FF5252">
              <a:alpha val="80000"/>
            </a:srgbClr>
          </a:solidFill>
          <a:ln w="12700">
            <a:solidFill>
              <a:srgbClr val="FF5252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384048" y="3977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1F5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1400" dirty="0"/>
          </a:p>
        </p:txBody>
      </p:sp>
      <p:sp>
        <p:nvSpPr>
          <p:cNvPr id="32" name="Text 28"/>
          <p:cNvSpPr/>
          <p:nvPr/>
        </p:nvSpPr>
        <p:spPr>
          <a:xfrm>
            <a:off x="932688" y="3858768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1F5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Mohamed Ahmed</a:t>
            </a:r>
            <a:endParaRPr lang="en-US" sz="1300" dirty="0"/>
          </a:p>
        </p:txBody>
      </p:sp>
      <p:sp>
        <p:nvSpPr>
          <p:cNvPr id="33" name="Text 29"/>
          <p:cNvSpPr/>
          <p:nvPr/>
        </p:nvSpPr>
        <p:spPr>
          <a:xfrm>
            <a:off x="932688" y="420624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Developer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6126480" y="1143000"/>
            <a:ext cx="2834640" cy="868680"/>
          </a:xfrm>
          <a:prstGeom prst="roundRect">
            <a:avLst>
              <a:gd name="adj" fmla="val 8421"/>
            </a:avLst>
          </a:prstGeom>
          <a:solidFill>
            <a:srgbClr val="141B2D"/>
          </a:solidFill>
          <a:ln w="12700">
            <a:solidFill>
              <a:srgbClr val="1E2D4A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6263640" y="1216152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Name</a:t>
            </a:r>
            <a:endParaRPr lang="en-US" sz="1000" dirty="0"/>
          </a:p>
        </p:txBody>
      </p:sp>
      <p:sp>
        <p:nvSpPr>
          <p:cNvPr id="36" name="Text 32"/>
          <p:cNvSpPr/>
          <p:nvPr/>
        </p:nvSpPr>
        <p:spPr>
          <a:xfrm>
            <a:off x="6263640" y="1490472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Marketly</a:t>
            </a:r>
            <a:endParaRPr lang="en-US" sz="1200" dirty="0"/>
          </a:p>
        </p:txBody>
      </p:sp>
      <p:sp>
        <p:nvSpPr>
          <p:cNvPr id="37" name="Shape 33"/>
          <p:cNvSpPr/>
          <p:nvPr/>
        </p:nvSpPr>
        <p:spPr>
          <a:xfrm>
            <a:off x="6126480" y="2194560"/>
            <a:ext cx="2834640" cy="987552"/>
          </a:xfrm>
          <a:prstGeom prst="roundRect">
            <a:avLst>
              <a:gd name="adj" fmla="val 8421"/>
            </a:avLst>
          </a:prstGeom>
          <a:solidFill>
            <a:srgbClr val="141B2D"/>
          </a:solidFill>
          <a:ln w="12700">
            <a:solidFill>
              <a:srgbClr val="1E2D4A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6263640" y="2267712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Stack</a:t>
            </a:r>
            <a:endParaRPr lang="en-US" sz="1000" dirty="0"/>
          </a:p>
        </p:txBody>
      </p:sp>
      <p:sp>
        <p:nvSpPr>
          <p:cNvPr id="39" name="Text 35"/>
          <p:cNvSpPr/>
          <p:nvPr/>
        </p:nvSpPr>
        <p:spPr>
          <a:xfrm>
            <a:off x="6263640" y="2624328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React, Redux Toolkit, Firebase Authentication, Cloud Firestore, React Router, Formik &amp; Yup, Bootstrap</a:t>
            </a:r>
            <a:endParaRPr lang="en-US" sz="1200" dirty="0"/>
          </a:p>
        </p:txBody>
      </p:sp>
      <p:sp>
        <p:nvSpPr>
          <p:cNvPr id="40" name="Shape 36"/>
          <p:cNvSpPr/>
          <p:nvPr/>
        </p:nvSpPr>
        <p:spPr>
          <a:xfrm>
            <a:off x="6126480" y="3364992"/>
            <a:ext cx="2834640" cy="868680"/>
          </a:xfrm>
          <a:prstGeom prst="roundRect">
            <a:avLst>
              <a:gd name="adj" fmla="val 8421"/>
            </a:avLst>
          </a:prstGeom>
          <a:solidFill>
            <a:srgbClr val="141B2D"/>
          </a:solidFill>
          <a:ln w="12700">
            <a:solidFill>
              <a:srgbClr val="1E2D4A"/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6263640" y="3438144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</a:t>
            </a:r>
            <a:endParaRPr lang="en-US" sz="1000" dirty="0"/>
          </a:p>
        </p:txBody>
      </p:sp>
      <p:sp>
        <p:nvSpPr>
          <p:cNvPr id="42" name="Text 38"/>
          <p:cNvSpPr/>
          <p:nvPr/>
        </p:nvSpPr>
        <p:spPr>
          <a:xfrm>
            <a:off x="6263640" y="3712464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ITC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" y="73152"/>
            <a:ext cx="658368" cy="658368"/>
          </a:xfrm>
          <a:prstGeom prst="ellipse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5904" y="73152"/>
            <a:ext cx="658368" cy="56692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5303520" y="818388"/>
            <a:ext cx="3840480" cy="4325112"/>
          </a:xfrm>
          <a:prstGeom prst="rect">
            <a:avLst/>
          </a:prstGeom>
          <a:solidFill>
            <a:srgbClr val="141B2D"/>
          </a:solidFill>
          <a:ln w="12700">
            <a:solidFill>
              <a:srgbClr val="1E2D4A"/>
            </a:solidFill>
            <a:prstDash val="solid"/>
          </a:ln>
        </p:spPr>
      </p:sp>
      <p:sp>
        <p:nvSpPr>
          <p:cNvPr id="5" name="Shape 1"/>
          <p:cNvSpPr/>
          <p:nvPr/>
        </p:nvSpPr>
        <p:spPr>
          <a:xfrm>
            <a:off x="5943600" y="640080"/>
            <a:ext cx="2926080" cy="2743200"/>
          </a:xfrm>
          <a:prstGeom prst="ellipse">
            <a:avLst/>
          </a:prstGeom>
          <a:solidFill>
            <a:srgbClr val="FF5252">
              <a:alpha val="10000"/>
            </a:srgbClr>
          </a:solidFill>
          <a:ln w="12700">
            <a:solidFill>
              <a:srgbClr val="FF5252"/>
            </a:solidFill>
            <a:prstDash val="solid"/>
          </a:ln>
        </p:spPr>
      </p:sp>
      <p:sp>
        <p:nvSpPr>
          <p:cNvPr id="6" name="Shape 2"/>
          <p:cNvSpPr/>
          <p:nvPr/>
        </p:nvSpPr>
        <p:spPr>
          <a:xfrm>
            <a:off x="859536" y="402336"/>
            <a:ext cx="1645920" cy="347472"/>
          </a:xfrm>
          <a:prstGeom prst="roundRect">
            <a:avLst>
              <a:gd name="adj" fmla="val 13158"/>
            </a:avLst>
          </a:prstGeom>
          <a:solidFill>
            <a:srgbClr val="FF5252">
              <a:alpha val="20000"/>
            </a:srgbClr>
          </a:solidFill>
          <a:ln w="12700">
            <a:solidFill>
              <a:srgbClr val="FF5252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859536" y="402336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365760" y="822960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1F5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3200" dirty="0"/>
          </a:p>
        </p:txBody>
      </p:sp>
      <p:sp>
        <p:nvSpPr>
          <p:cNvPr id="9" name="Text 5"/>
          <p:cNvSpPr/>
          <p:nvPr/>
        </p:nvSpPr>
        <p:spPr>
          <a:xfrm>
            <a:off x="365760" y="1371600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Statement</a:t>
            </a:r>
            <a:endParaRPr lang="en-US" sz="3200" dirty="0"/>
          </a:p>
        </p:txBody>
      </p:sp>
      <p:sp>
        <p:nvSpPr>
          <p:cNvPr id="10" name="Shape 6"/>
          <p:cNvSpPr/>
          <p:nvPr/>
        </p:nvSpPr>
        <p:spPr>
          <a:xfrm>
            <a:off x="365760" y="2011680"/>
            <a:ext cx="3200400" cy="0"/>
          </a:xfrm>
          <a:prstGeom prst="line">
            <a:avLst/>
          </a:prstGeom>
          <a:noFill/>
          <a:ln w="6350">
            <a:solidFill>
              <a:srgbClr val="1E2D4A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365760" y="2148840"/>
            <a:ext cx="46634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online stores need a reliable way to manage products, orders, and users while providing a smooth shopping experience.</a:t>
            </a:r>
            <a:endParaRPr lang="en-US" sz="1300" dirty="0"/>
          </a:p>
          <a:p>
            <a:pPr marL="0" indent="0" algn="l">
              <a:buNone/>
            </a:pPr>
            <a:endParaRPr lang="en-US" sz="13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solutions depend on external data sources, lack real-time updates, or make order management difficult for administrators.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5577840" y="640080"/>
            <a:ext cx="3200400" cy="1097280"/>
          </a:xfrm>
          <a:prstGeom prst="roundRect">
            <a:avLst>
              <a:gd name="adj" fmla="val 6667"/>
            </a:avLst>
          </a:prstGeom>
          <a:solidFill>
            <a:srgbClr val="0F1526"/>
          </a:solidFill>
          <a:ln w="12700">
            <a:solidFill>
              <a:srgbClr val="FF5252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5669280" y="73152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200" dirty="0"/>
          </a:p>
        </p:txBody>
      </p:sp>
      <p:sp>
        <p:nvSpPr>
          <p:cNvPr id="14" name="Text 10"/>
          <p:cNvSpPr/>
          <p:nvPr/>
        </p:nvSpPr>
        <p:spPr>
          <a:xfrm>
            <a:off x="6263640" y="77724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1F5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Management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6263640" y="1170432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Managing products and keeping data consistent across the platform can be challenging.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5577840" y="2011680"/>
            <a:ext cx="3200400" cy="1097280"/>
          </a:xfrm>
          <a:prstGeom prst="roundRect">
            <a:avLst>
              <a:gd name="adj" fmla="val 6667"/>
            </a:avLst>
          </a:prstGeom>
          <a:solidFill>
            <a:srgbClr val="0F1526"/>
          </a:solidFill>
          <a:ln w="12700">
            <a:solidFill>
              <a:srgbClr val="FFB300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5669280" y="210312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200" dirty="0"/>
          </a:p>
        </p:txBody>
      </p:sp>
      <p:sp>
        <p:nvSpPr>
          <p:cNvPr id="18" name="Text 14"/>
          <p:cNvSpPr/>
          <p:nvPr/>
        </p:nvSpPr>
        <p:spPr>
          <a:xfrm>
            <a:off x="6263640" y="214884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1F5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Tracking</a:t>
            </a:r>
            <a:endParaRPr lang="en-US" sz="1500" dirty="0"/>
          </a:p>
        </p:txBody>
      </p:sp>
      <p:sp>
        <p:nvSpPr>
          <p:cNvPr id="19" name="Text 15"/>
          <p:cNvSpPr/>
          <p:nvPr/>
        </p:nvSpPr>
        <p:spPr>
          <a:xfrm>
            <a:off x="6263640" y="2542032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need a simple way to track their orders and follow delivery progress.</a:t>
            </a:r>
            <a:endParaRPr lang="en-US" sz="1000" dirty="0"/>
          </a:p>
        </p:txBody>
      </p:sp>
      <p:sp>
        <p:nvSpPr>
          <p:cNvPr id="20" name="Shape 16"/>
          <p:cNvSpPr/>
          <p:nvPr/>
        </p:nvSpPr>
        <p:spPr>
          <a:xfrm>
            <a:off x="5577840" y="3383280"/>
            <a:ext cx="3200400" cy="1097280"/>
          </a:xfrm>
          <a:prstGeom prst="roundRect">
            <a:avLst>
              <a:gd name="adj" fmla="val 6667"/>
            </a:avLst>
          </a:prstGeom>
          <a:solidFill>
            <a:srgbClr val="0F1526"/>
          </a:solidFill>
          <a:ln w="12700">
            <a:solidFill>
              <a:srgbClr val="6C63FF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5669280" y="347472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200" dirty="0"/>
          </a:p>
        </p:txBody>
      </p:sp>
      <p:sp>
        <p:nvSpPr>
          <p:cNvPr id="22" name="Text 18"/>
          <p:cNvSpPr/>
          <p:nvPr/>
        </p:nvSpPr>
        <p:spPr>
          <a:xfrm>
            <a:off x="6263640" y="352044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1F5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Reliability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6263640" y="3913632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Dependence on external APIs may cause data inconsistencies and system instability.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0"/>
          <p:cNvSpPr/>
          <p:nvPr/>
        </p:nvSpPr>
        <p:spPr>
          <a:xfrm>
            <a:off x="0" y="73152"/>
            <a:ext cx="9144000" cy="1024128"/>
          </a:xfrm>
          <a:prstGeom prst="rect">
            <a:avLst/>
          </a:prstGeom>
          <a:solidFill>
            <a:srgbClr val="141B2D"/>
          </a:solidFill>
          <a:ln w="12700">
            <a:solidFill>
              <a:srgbClr val="1E2D4A"/>
            </a:solidFill>
            <a:prstDash val="solid"/>
          </a:ln>
        </p:spPr>
      </p:sp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" y="73152"/>
            <a:ext cx="658368" cy="658368"/>
          </a:xfrm>
          <a:prstGeom prst="ellipse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5904" y="73152"/>
            <a:ext cx="658368" cy="65836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E676"/>
          </a:solidFill>
          <a:ln w="12700">
            <a:solidFill>
              <a:srgbClr val="00E676"/>
            </a:solidFill>
            <a:prstDash val="solid"/>
          </a:ln>
        </p:spPr>
      </p:sp>
      <p:sp>
        <p:nvSpPr>
          <p:cNvPr id="6" name="Shape 2"/>
          <p:cNvSpPr/>
          <p:nvPr/>
        </p:nvSpPr>
        <p:spPr>
          <a:xfrm>
            <a:off x="320040" y="822172"/>
            <a:ext cx="1645920" cy="329184"/>
          </a:xfrm>
          <a:prstGeom prst="roundRect">
            <a:avLst>
              <a:gd name="adj" fmla="val 13889"/>
            </a:avLst>
          </a:prstGeom>
          <a:solidFill>
            <a:srgbClr val="00E676">
              <a:alpha val="20000"/>
            </a:srgbClr>
          </a:solidFill>
          <a:ln w="12700">
            <a:solidFill>
              <a:srgbClr val="00E676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320040" y="821436"/>
            <a:ext cx="1645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00E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</a:t>
            </a:r>
            <a:endParaRPr lang="en-US" sz="1000" dirty="0"/>
          </a:p>
        </p:txBody>
      </p:sp>
      <p:sp>
        <p:nvSpPr>
          <p:cNvPr id="8" name="Text 4"/>
          <p:cNvSpPr/>
          <p:nvPr/>
        </p:nvSpPr>
        <p:spPr>
          <a:xfrm>
            <a:off x="2286000" y="182880"/>
            <a:ext cx="6400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1F5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Solution</a:t>
            </a:r>
            <a:endParaRPr lang="en-US" sz="2600" dirty="0"/>
          </a:p>
        </p:txBody>
      </p:sp>
      <p:sp>
        <p:nvSpPr>
          <p:cNvPr id="9" name="Text 5"/>
          <p:cNvSpPr/>
          <p:nvPr/>
        </p:nvSpPr>
        <p:spPr>
          <a:xfrm>
            <a:off x="2286000" y="713232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Marketly provides a complete E-Commerce solution with product management, order tracking, user authentication, and administrative tools powered by Firebase and Firestore.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65760" y="1280160"/>
            <a:ext cx="4114800" cy="1554480"/>
          </a:xfrm>
          <a:prstGeom prst="roundRect">
            <a:avLst>
              <a:gd name="adj" fmla="val 5882"/>
            </a:avLst>
          </a:prstGeom>
          <a:solidFill>
            <a:srgbClr val="1A2340"/>
          </a:solidFill>
          <a:ln w="12700">
            <a:solidFill>
              <a:srgbClr val="6C63FF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365760" y="1280160"/>
            <a:ext cx="4114800" cy="365760"/>
          </a:xfrm>
          <a:prstGeom prst="roundRect">
            <a:avLst>
              <a:gd name="adj" fmla="val 25000"/>
            </a:avLst>
          </a:prstGeom>
          <a:solidFill>
            <a:srgbClr val="6C63FF">
              <a:alpha val="25000"/>
            </a:srgbClr>
          </a:solidFill>
          <a:ln w="12700">
            <a:solidFill>
              <a:srgbClr val="6C63F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548640" y="1325880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Solution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548640" y="1783080"/>
            <a:ext cx="3749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Developed a full-featured E-Commerce platform that enables users to browse products, place orders, and track deliveries while giving administrators complete control over products, users, and orders.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4754880" y="1280160"/>
            <a:ext cx="4114800" cy="1554480"/>
          </a:xfrm>
          <a:prstGeom prst="roundRect">
            <a:avLst>
              <a:gd name="adj" fmla="val 5882"/>
            </a:avLst>
          </a:prstGeom>
          <a:solidFill>
            <a:srgbClr val="1A2340"/>
          </a:solidFill>
          <a:ln w="12700">
            <a:solidFill>
              <a:srgbClr val="00E676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754880" y="1280160"/>
            <a:ext cx="4114800" cy="365760"/>
          </a:xfrm>
          <a:prstGeom prst="roundRect">
            <a:avLst>
              <a:gd name="adj" fmla="val 25000"/>
            </a:avLst>
          </a:prstGeom>
          <a:solidFill>
            <a:srgbClr val="00E676">
              <a:alpha val="25000"/>
            </a:srgbClr>
          </a:solidFill>
          <a:ln w="12700">
            <a:solidFill>
              <a:srgbClr val="00E676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4937760" y="1325880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E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Features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4754880" y="1783080"/>
            <a:ext cx="217017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Authentication &amp; Roles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Catalog &amp; Categories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Search, Filters &amp; Sorting</a:t>
            </a:r>
          </a:p>
        </p:txBody>
      </p:sp>
      <p:sp>
        <p:nvSpPr>
          <p:cNvPr id="18" name="Shape 14"/>
          <p:cNvSpPr/>
          <p:nvPr/>
        </p:nvSpPr>
        <p:spPr>
          <a:xfrm>
            <a:off x="365760" y="3017520"/>
            <a:ext cx="4114800" cy="1554480"/>
          </a:xfrm>
          <a:prstGeom prst="roundRect">
            <a:avLst>
              <a:gd name="adj" fmla="val 5882"/>
            </a:avLst>
          </a:prstGeom>
          <a:solidFill>
            <a:srgbClr val="1A2340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365760" y="3017520"/>
            <a:ext cx="4114800" cy="365760"/>
          </a:xfrm>
          <a:prstGeom prst="roundRect">
            <a:avLst>
              <a:gd name="adj" fmla="val 25000"/>
            </a:avLst>
          </a:prstGeom>
          <a:solidFill>
            <a:srgbClr val="4FC3F7">
              <a:alpha val="25000"/>
            </a:srgbClr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548640" y="3063240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Technologies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548640" y="3557016"/>
            <a:ext cx="184099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Redux Toolkit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 Authentication</a:t>
            </a:r>
          </a:p>
        </p:txBody>
      </p:sp>
      <p:sp>
        <p:nvSpPr>
          <p:cNvPr id="22" name="Shape 18"/>
          <p:cNvSpPr/>
          <p:nvPr/>
        </p:nvSpPr>
        <p:spPr>
          <a:xfrm>
            <a:off x="4754880" y="3017520"/>
            <a:ext cx="4114800" cy="1554480"/>
          </a:xfrm>
          <a:prstGeom prst="roundRect">
            <a:avLst>
              <a:gd name="adj" fmla="val 5882"/>
            </a:avLst>
          </a:prstGeom>
          <a:solidFill>
            <a:srgbClr val="1A2340"/>
          </a:solidFill>
          <a:ln w="12700">
            <a:solidFill>
              <a:srgbClr val="FFB300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4754880" y="3017520"/>
            <a:ext cx="4114800" cy="365760"/>
          </a:xfrm>
          <a:prstGeom prst="roundRect">
            <a:avLst>
              <a:gd name="adj" fmla="val 25000"/>
            </a:avLst>
          </a:prstGeom>
          <a:solidFill>
            <a:srgbClr val="FFB300">
              <a:alpha val="25000"/>
            </a:srgbClr>
          </a:solidFill>
          <a:ln w="12700">
            <a:solidFill>
              <a:srgbClr val="FFB300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4937760" y="3063240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Outcomes</a:t>
            </a:r>
            <a:endParaRPr lang="en-US" sz="1400" dirty="0"/>
          </a:p>
        </p:txBody>
      </p:sp>
      <p:sp>
        <p:nvSpPr>
          <p:cNvPr id="25" name="Text 21"/>
          <p:cNvSpPr/>
          <p:nvPr/>
        </p:nvSpPr>
        <p:spPr>
          <a:xfrm>
            <a:off x="4754880" y="3520440"/>
            <a:ext cx="3749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Reliable product management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data synchronization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user access control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Simplified order management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Improved shopping experience</a:t>
            </a:r>
            <a:endParaRPr lang="en-US" sz="1200" dirty="0"/>
          </a:p>
        </p:txBody>
      </p:sp>
      <p:sp>
        <p:nvSpPr>
          <p:cNvPr id="32" name="Text 17">
            <a:extLst>
              <a:ext uri="{FF2B5EF4-FFF2-40B4-BE49-F238E27FC236}">
                <a16:creationId xmlns:a16="http://schemas.microsoft.com/office/drawing/2014/main" id="{DE474E71-546B-40E0-A1CB-867E0C5A94C8}"/>
              </a:ext>
            </a:extLst>
          </p:cNvPr>
          <p:cNvSpPr/>
          <p:nvPr/>
        </p:nvSpPr>
        <p:spPr>
          <a:xfrm>
            <a:off x="2456688" y="3557016"/>
            <a:ext cx="184099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Firestore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Router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</a:t>
            </a:r>
            <a:endParaRPr lang="en-US" sz="1200" dirty="0"/>
          </a:p>
        </p:txBody>
      </p:sp>
      <p:sp>
        <p:nvSpPr>
          <p:cNvPr id="33" name="Text 13">
            <a:extLst>
              <a:ext uri="{FF2B5EF4-FFF2-40B4-BE49-F238E27FC236}">
                <a16:creationId xmlns:a16="http://schemas.microsoft.com/office/drawing/2014/main" id="{E949D02F-9A7A-4B8C-9ACA-236BBD78B090}"/>
              </a:ext>
            </a:extLst>
          </p:cNvPr>
          <p:cNvSpPr/>
          <p:nvPr/>
        </p:nvSpPr>
        <p:spPr>
          <a:xfrm>
            <a:off x="6989064" y="1783080"/>
            <a:ext cx="181660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Tracking System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Dashboard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&amp; Restore Tools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" y="73152"/>
            <a:ext cx="658368" cy="658368"/>
          </a:xfrm>
          <a:prstGeom prst="ellipse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5904" y="73152"/>
            <a:ext cx="658368" cy="65836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023256" y="274320"/>
            <a:ext cx="3914503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1F5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</a:t>
            </a:r>
            <a:endParaRPr lang="en-US" sz="3600" dirty="0"/>
          </a:p>
        </p:txBody>
      </p:sp>
      <p:sp>
        <p:nvSpPr>
          <p:cNvPr id="5" name="Text 1"/>
          <p:cNvSpPr/>
          <p:nvPr/>
        </p:nvSpPr>
        <p:spPr>
          <a:xfrm>
            <a:off x="365760" y="914400"/>
            <a:ext cx="4572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3600" dirty="0"/>
          </a:p>
        </p:txBody>
      </p:sp>
      <p:sp>
        <p:nvSpPr>
          <p:cNvPr id="6" name="Shape 2"/>
          <p:cNvSpPr/>
          <p:nvPr/>
        </p:nvSpPr>
        <p:spPr>
          <a:xfrm>
            <a:off x="365760" y="1920240"/>
            <a:ext cx="2468880" cy="2560320"/>
          </a:xfrm>
          <a:prstGeom prst="roundRect">
            <a:avLst>
              <a:gd name="adj" fmla="val 3704"/>
            </a:avLst>
          </a:prstGeom>
          <a:solidFill>
            <a:srgbClr val="141B2D"/>
          </a:solidFill>
          <a:ln w="19050">
            <a:solidFill>
              <a:srgbClr val="4FC3F7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1143000" y="2057400"/>
            <a:ext cx="914400" cy="914400"/>
          </a:xfrm>
          <a:prstGeom prst="ellipse">
            <a:avLst/>
          </a:prstGeom>
          <a:solidFill>
            <a:srgbClr val="4FC3F7">
              <a:alpha val="20000"/>
            </a:srgbClr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365760" y="315468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365760" y="356616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</a:t>
            </a:r>
          </a:p>
          <a:p>
            <a:pPr marL="0" indent="0" algn="ctr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Redux Toolkit</a:t>
            </a:r>
          </a:p>
          <a:p>
            <a:pPr marL="0" indent="0" algn="ctr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Router</a:t>
            </a:r>
          </a:p>
          <a:p>
            <a:pPr marL="0" indent="0" algn="ctr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</a:t>
            </a:r>
          </a:p>
        </p:txBody>
      </p:sp>
      <p:sp>
        <p:nvSpPr>
          <p:cNvPr id="10" name="Shape 6"/>
          <p:cNvSpPr/>
          <p:nvPr/>
        </p:nvSpPr>
        <p:spPr>
          <a:xfrm>
            <a:off x="2834640" y="3200400"/>
            <a:ext cx="365760" cy="0"/>
          </a:xfrm>
          <a:prstGeom prst="line">
            <a:avLst/>
          </a:prstGeom>
          <a:noFill/>
          <a:ln w="25400">
            <a:solidFill>
              <a:srgbClr val="1E2D4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3200400" y="1920240"/>
            <a:ext cx="2468880" cy="2560320"/>
          </a:xfrm>
          <a:prstGeom prst="roundRect">
            <a:avLst>
              <a:gd name="adj" fmla="val 3704"/>
            </a:avLst>
          </a:prstGeom>
          <a:solidFill>
            <a:srgbClr val="141B2D"/>
          </a:solidFill>
          <a:ln w="19050">
            <a:solidFill>
              <a:srgbClr val="6C63FF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3977640" y="2057400"/>
            <a:ext cx="914400" cy="914400"/>
          </a:xfrm>
          <a:prstGeom prst="ellipse">
            <a:avLst/>
          </a:prstGeom>
          <a:solidFill>
            <a:srgbClr val="6C63FF">
              <a:alpha val="20000"/>
            </a:srgbClr>
          </a:solidFill>
          <a:ln w="12700">
            <a:solidFill>
              <a:srgbClr val="6C63F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3200400" y="315468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3200400" y="356616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 Auth</a:t>
            </a:r>
          </a:p>
          <a:p>
            <a:pPr marL="0" indent="0" algn="ctr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Firestore APIs</a:t>
            </a:r>
          </a:p>
          <a:p>
            <a:pPr marL="0" indent="0" algn="ctr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Control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5669280" y="3200400"/>
            <a:ext cx="365760" cy="0"/>
          </a:xfrm>
          <a:prstGeom prst="line">
            <a:avLst/>
          </a:prstGeom>
          <a:noFill/>
          <a:ln w="25400">
            <a:solidFill>
              <a:srgbClr val="1E2D4A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035040" y="1920240"/>
            <a:ext cx="2468880" cy="2560320"/>
          </a:xfrm>
          <a:prstGeom prst="roundRect">
            <a:avLst>
              <a:gd name="adj" fmla="val 3704"/>
            </a:avLst>
          </a:prstGeom>
          <a:solidFill>
            <a:srgbClr val="141B2D"/>
          </a:solidFill>
          <a:ln w="19050">
            <a:solidFill>
              <a:srgbClr val="00E676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6812280" y="2057400"/>
            <a:ext cx="914400" cy="914400"/>
          </a:xfrm>
          <a:prstGeom prst="ellipse">
            <a:avLst/>
          </a:prstGeom>
          <a:solidFill>
            <a:srgbClr val="00E676">
              <a:alpha val="20000"/>
            </a:srgbClr>
          </a:solidFill>
          <a:ln w="12700">
            <a:solidFill>
              <a:srgbClr val="00E676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035040" y="315468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E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400" dirty="0"/>
          </a:p>
        </p:txBody>
      </p:sp>
      <p:sp>
        <p:nvSpPr>
          <p:cNvPr id="19" name="Text 15"/>
          <p:cNvSpPr/>
          <p:nvPr/>
        </p:nvSpPr>
        <p:spPr>
          <a:xfrm>
            <a:off x="6035040" y="356616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</a:t>
            </a:r>
          </a:p>
          <a:p>
            <a:pPr marL="0" indent="0" algn="ctr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</a:t>
            </a:r>
          </a:p>
          <a:p>
            <a:pPr marL="0" indent="0" algn="ctr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</a:t>
            </a:r>
          </a:p>
          <a:p>
            <a:pPr marL="0" indent="0" algn="ctr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Categories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2834640" y="169743"/>
            <a:ext cx="5440680" cy="1508760"/>
          </a:xfrm>
          <a:prstGeom prst="roundRect">
            <a:avLst>
              <a:gd name="adj" fmla="val 6061"/>
            </a:avLst>
          </a:prstGeom>
          <a:solidFill>
            <a:srgbClr val="141B2D"/>
          </a:solidFill>
          <a:ln w="12700">
            <a:solidFill>
              <a:srgbClr val="1E2D4A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1" name="Text 17"/>
          <p:cNvSpPr/>
          <p:nvPr/>
        </p:nvSpPr>
        <p:spPr>
          <a:xfrm>
            <a:off x="2910839" y="485649"/>
            <a:ext cx="1539244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r>
              <a:rPr lang="en-US" sz="1300" dirty="0">
                <a:solidFill>
                  <a:srgbClr val="F1F5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</a:p>
          <a:p>
            <a:pPr marL="285750" indent="-285750">
              <a:buClr>
                <a:srgbClr val="8892A4"/>
              </a:buClr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Frontend</a:t>
            </a:r>
          </a:p>
          <a:p>
            <a:pPr marL="285750" indent="-285750">
              <a:buClr>
                <a:srgbClr val="8892A4"/>
              </a:buClr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 Services</a:t>
            </a:r>
          </a:p>
          <a:p>
            <a:pPr marL="285750" indent="-285750">
              <a:buClr>
                <a:srgbClr val="8892A4"/>
              </a:buClr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Firestore</a:t>
            </a:r>
          </a:p>
        </p:txBody>
      </p:sp>
      <p:sp>
        <p:nvSpPr>
          <p:cNvPr id="24" name="Text 17">
            <a:extLst>
              <a:ext uri="{FF2B5EF4-FFF2-40B4-BE49-F238E27FC236}">
                <a16:creationId xmlns:a16="http://schemas.microsoft.com/office/drawing/2014/main" id="{11612ED8-8B70-4FAD-B673-C04FCABBAF4F}"/>
              </a:ext>
            </a:extLst>
          </p:cNvPr>
          <p:cNvSpPr/>
          <p:nvPr/>
        </p:nvSpPr>
        <p:spPr>
          <a:xfrm>
            <a:off x="4498847" y="485649"/>
            <a:ext cx="1981201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r>
              <a:rPr lang="en-US" sz="1300" dirty="0">
                <a:solidFill>
                  <a:srgbClr val="F1F5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Components</a:t>
            </a:r>
          </a:p>
          <a:p>
            <a:pPr marL="285750" indent="-285750">
              <a:buClr>
                <a:srgbClr val="8892A4"/>
              </a:buClr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Interface</a:t>
            </a:r>
          </a:p>
          <a:p>
            <a:pPr marL="285750" indent="-285750">
              <a:buClr>
                <a:srgbClr val="8892A4"/>
              </a:buClr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Dashboard</a:t>
            </a:r>
          </a:p>
          <a:p>
            <a:pPr marL="285750" indent="-285750">
              <a:buClr>
                <a:srgbClr val="8892A4"/>
              </a:buClr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 &amp; Orders</a:t>
            </a:r>
          </a:p>
        </p:txBody>
      </p:sp>
      <p:sp>
        <p:nvSpPr>
          <p:cNvPr id="25" name="Text 17">
            <a:extLst>
              <a:ext uri="{FF2B5EF4-FFF2-40B4-BE49-F238E27FC236}">
                <a16:creationId xmlns:a16="http://schemas.microsoft.com/office/drawing/2014/main" id="{C955B974-B51B-4504-84D9-C5403B890800}"/>
              </a:ext>
            </a:extLst>
          </p:cNvPr>
          <p:cNvSpPr/>
          <p:nvPr/>
        </p:nvSpPr>
        <p:spPr>
          <a:xfrm>
            <a:off x="6522719" y="485649"/>
            <a:ext cx="1696721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r>
              <a:rPr lang="en-US" sz="1300" dirty="0">
                <a:solidFill>
                  <a:srgbClr val="F1F5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Flow</a:t>
            </a:r>
          </a:p>
          <a:p>
            <a:pPr marL="285750" indent="-285750">
              <a:buClr>
                <a:srgbClr val="8892A4"/>
              </a:buClr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Action</a:t>
            </a:r>
          </a:p>
          <a:p>
            <a:pPr marL="285750" indent="-285750">
              <a:buClr>
                <a:srgbClr val="8892A4"/>
              </a:buClr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 Processing</a:t>
            </a:r>
          </a:p>
          <a:p>
            <a:pPr marL="285750" indent="-285750">
              <a:buClr>
                <a:srgbClr val="8892A4"/>
              </a:buClr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Firestore Storage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35EF6978-3E1E-4FA2-BF3E-7ECB54856E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24180" y="2240280"/>
            <a:ext cx="552040" cy="552040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1E138151-4A00-48C1-ACDB-AB6BC49C303E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4214887" y="2240280"/>
            <a:ext cx="439906" cy="55204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AB733253-CA3E-480F-B64E-E8BC031FB1B8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6956220" y="2203040"/>
            <a:ext cx="626520" cy="6265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" y="73152"/>
            <a:ext cx="658368" cy="658368"/>
          </a:xfrm>
          <a:prstGeom prst="ellipse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5904" y="73152"/>
            <a:ext cx="658368" cy="65836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5" name="Text 1"/>
          <p:cNvSpPr/>
          <p:nvPr/>
        </p:nvSpPr>
        <p:spPr>
          <a:xfrm>
            <a:off x="945930" y="274320"/>
            <a:ext cx="7649429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1F5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&amp;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365760" y="8686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Screenshots</a:t>
            </a:r>
            <a:endParaRPr lang="en-US" sz="3400" dirty="0"/>
          </a:p>
        </p:txBody>
      </p:sp>
      <p:sp>
        <p:nvSpPr>
          <p:cNvPr id="7" name="Shape 3"/>
          <p:cNvSpPr/>
          <p:nvPr/>
        </p:nvSpPr>
        <p:spPr>
          <a:xfrm>
            <a:off x="365760" y="1691640"/>
            <a:ext cx="4114800" cy="2560320"/>
          </a:xfrm>
          <a:prstGeom prst="roundRect">
            <a:avLst>
              <a:gd name="adj" fmla="val 3571"/>
            </a:avLst>
          </a:prstGeom>
          <a:blipFill dpi="0"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 w="12700">
            <a:solidFill>
              <a:srgbClr val="1E2D4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365760" y="1691640"/>
            <a:ext cx="41148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4663440" y="1691640"/>
            <a:ext cx="4114800" cy="1143000"/>
          </a:xfrm>
          <a:prstGeom prst="roundRect">
            <a:avLst>
              <a:gd name="adj" fmla="val 8000"/>
            </a:avLst>
          </a:prstGeom>
          <a:blipFill dpi="0"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t="-2000" b="-58000"/>
            </a:stretch>
          </a:blipFill>
          <a:ln w="12700">
            <a:solidFill>
              <a:srgbClr val="1E2D4A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4663440" y="1691640"/>
            <a:ext cx="41148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4663440" y="3017520"/>
            <a:ext cx="4114800" cy="1234440"/>
          </a:xfrm>
          <a:prstGeom prst="roundRect">
            <a:avLst>
              <a:gd name="adj" fmla="val 7407"/>
            </a:avLst>
          </a:prstGeom>
          <a:blipFill dpi="0"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t="-16667" b="-31481"/>
            </a:stretch>
          </a:blipFill>
          <a:ln w="12700">
            <a:solidFill>
              <a:srgbClr val="1E2D4A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4663440" y="3017520"/>
            <a:ext cx="411480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365760" y="43891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Screens from Marketly Platform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0"/>
          <p:cNvSpPr/>
          <p:nvPr/>
        </p:nvSpPr>
        <p:spPr>
          <a:xfrm>
            <a:off x="1360714" y="0"/>
            <a:ext cx="7783286" cy="1005840"/>
          </a:xfrm>
          <a:prstGeom prst="rect">
            <a:avLst/>
          </a:prstGeom>
          <a:solidFill>
            <a:srgbClr val="141B2D"/>
          </a:solidFill>
          <a:ln w="12700">
            <a:solidFill>
              <a:srgbClr val="1E2D4A"/>
            </a:solidFill>
            <a:prstDash val="solid"/>
          </a:ln>
        </p:spPr>
      </p:sp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" y="73152"/>
            <a:ext cx="658368" cy="658368"/>
          </a:xfrm>
          <a:prstGeom prst="ellipse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5904" y="73152"/>
            <a:ext cx="658368" cy="65836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E676"/>
          </a:solidFill>
          <a:ln w="12700">
            <a:solidFill>
              <a:srgbClr val="00E676"/>
            </a:solidFill>
            <a:prstDash val="solid"/>
          </a:ln>
        </p:spPr>
      </p:sp>
      <p:sp>
        <p:nvSpPr>
          <p:cNvPr id="6" name="Text 2"/>
          <p:cNvSpPr/>
          <p:nvPr/>
        </p:nvSpPr>
        <p:spPr>
          <a:xfrm>
            <a:off x="1556656" y="137160"/>
            <a:ext cx="7038703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1F5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Validation</a:t>
            </a:r>
            <a:endParaRPr lang="en-US" sz="2600" dirty="0"/>
          </a:p>
        </p:txBody>
      </p:sp>
      <p:sp>
        <p:nvSpPr>
          <p:cNvPr id="7" name="Text 3"/>
          <p:cNvSpPr/>
          <p:nvPr/>
        </p:nvSpPr>
        <p:spPr>
          <a:xfrm>
            <a:off x="1360714" y="621792"/>
            <a:ext cx="357704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Lighthouse Audit Results</a:t>
            </a:r>
            <a:endParaRPr lang="en-US" sz="1100" dirty="0"/>
          </a:p>
        </p:txBody>
      </p:sp>
      <p:sp>
        <p:nvSpPr>
          <p:cNvPr id="8" name="Shape 4"/>
          <p:cNvSpPr/>
          <p:nvPr/>
        </p:nvSpPr>
        <p:spPr>
          <a:xfrm>
            <a:off x="274320" y="1143000"/>
            <a:ext cx="1965960" cy="1371600"/>
          </a:xfrm>
          <a:prstGeom prst="roundRect">
            <a:avLst>
              <a:gd name="adj" fmla="val 6667"/>
            </a:avLst>
          </a:prstGeom>
          <a:solidFill>
            <a:srgbClr val="1A2340"/>
          </a:solidFill>
          <a:ln w="19050">
            <a:solidFill>
              <a:srgbClr val="6C63FF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274320" y="1234440"/>
            <a:ext cx="1965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ar-EG" sz="4000" b="1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</a:t>
            </a:r>
            <a:endParaRPr lang="en-US" sz="4000" dirty="0"/>
          </a:p>
        </p:txBody>
      </p:sp>
      <p:sp>
        <p:nvSpPr>
          <p:cNvPr id="10" name="Text 6"/>
          <p:cNvSpPr/>
          <p:nvPr/>
        </p:nvSpPr>
        <p:spPr>
          <a:xfrm>
            <a:off x="274320" y="1965960"/>
            <a:ext cx="1965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2423160" y="1143000"/>
            <a:ext cx="1965960" cy="1371600"/>
          </a:xfrm>
          <a:prstGeom prst="roundRect">
            <a:avLst>
              <a:gd name="adj" fmla="val 6667"/>
            </a:avLst>
          </a:prstGeom>
          <a:solidFill>
            <a:srgbClr val="1A2340"/>
          </a:solidFill>
          <a:ln w="19050">
            <a:solidFill>
              <a:srgbClr val="00E676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2423160" y="1234440"/>
            <a:ext cx="1965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ar-EG" sz="4000" b="1" dirty="0">
                <a:solidFill>
                  <a:srgbClr val="00E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2423160" y="1965960"/>
            <a:ext cx="1965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Accessibility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4572000" y="1143000"/>
            <a:ext cx="1965960" cy="1371600"/>
          </a:xfrm>
          <a:prstGeom prst="roundRect">
            <a:avLst>
              <a:gd name="adj" fmla="val 6667"/>
            </a:avLst>
          </a:prstGeom>
          <a:solidFill>
            <a:srgbClr val="1A2340"/>
          </a:solidFill>
          <a:ln w="19050">
            <a:solidFill>
              <a:srgbClr val="FF5252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4572000" y="1234440"/>
            <a:ext cx="1965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ar-EG" sz="4000" b="1" dirty="0">
                <a:solidFill>
                  <a:srgbClr val="FF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</a:t>
            </a:r>
            <a:endParaRPr lang="en-US" sz="4000" dirty="0"/>
          </a:p>
        </p:txBody>
      </p:sp>
      <p:sp>
        <p:nvSpPr>
          <p:cNvPr id="16" name="Text 12"/>
          <p:cNvSpPr/>
          <p:nvPr/>
        </p:nvSpPr>
        <p:spPr>
          <a:xfrm>
            <a:off x="4572000" y="1965960"/>
            <a:ext cx="1965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Practices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6720840" y="1143000"/>
            <a:ext cx="1965960" cy="1371600"/>
          </a:xfrm>
          <a:prstGeom prst="roundRect">
            <a:avLst>
              <a:gd name="adj" fmla="val 6667"/>
            </a:avLst>
          </a:prstGeom>
          <a:solidFill>
            <a:srgbClr val="1A2340"/>
          </a:solidFill>
          <a:ln w="19050">
            <a:solidFill>
              <a:srgbClr val="FFB300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720840" y="1234440"/>
            <a:ext cx="1965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ar-EG" sz="400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4000" dirty="0"/>
          </a:p>
        </p:txBody>
      </p:sp>
      <p:sp>
        <p:nvSpPr>
          <p:cNvPr id="19" name="Text 15"/>
          <p:cNvSpPr/>
          <p:nvPr/>
        </p:nvSpPr>
        <p:spPr>
          <a:xfrm>
            <a:off x="6720840" y="1965960"/>
            <a:ext cx="1965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SEO</a:t>
            </a:r>
            <a:endParaRPr lang="en-US" sz="1000" dirty="0"/>
          </a:p>
        </p:txBody>
      </p:sp>
      <p:graphicFrame>
        <p:nvGraphicFramePr>
          <p:cNvPr id="20" name="Chart 0"/>
          <p:cNvGraphicFramePr/>
          <p:nvPr>
            <p:extLst>
              <p:ext uri="{D42A27DB-BD31-4B8C-83A1-F6EECF244321}">
                <p14:modId xmlns:p14="http://schemas.microsoft.com/office/powerpoint/2010/main" val="492842845"/>
              </p:ext>
            </p:extLst>
          </p:nvPr>
        </p:nvGraphicFramePr>
        <p:xfrm>
          <a:off x="274320" y="2651760"/>
          <a:ext cx="5303520" cy="2194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21" name="Chart 1"/>
          <p:cNvGraphicFramePr/>
          <p:nvPr>
            <p:extLst>
              <p:ext uri="{D42A27DB-BD31-4B8C-83A1-F6EECF244321}">
                <p14:modId xmlns:p14="http://schemas.microsoft.com/office/powerpoint/2010/main" val="1323853802"/>
              </p:ext>
            </p:extLst>
          </p:nvPr>
        </p:nvGraphicFramePr>
        <p:xfrm>
          <a:off x="5669280" y="2651760"/>
          <a:ext cx="3291840" cy="2194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" y="73152"/>
            <a:ext cx="658368" cy="658368"/>
          </a:xfrm>
          <a:prstGeom prst="ellipse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5904" y="73152"/>
            <a:ext cx="658368" cy="65836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6858000" y="2286000"/>
            <a:ext cx="3657600" cy="3657600"/>
          </a:xfrm>
          <a:prstGeom prst="ellipse">
            <a:avLst/>
          </a:prstGeom>
          <a:solidFill>
            <a:srgbClr val="6C63FF">
              <a:alpha val="8000"/>
            </a:srgbClr>
          </a:solidFill>
          <a:ln w="12700">
            <a:solidFill>
              <a:srgbClr val="6C63FF"/>
            </a:solidFill>
            <a:prstDash val="solid"/>
          </a:ln>
        </p:spPr>
      </p:sp>
      <p:sp>
        <p:nvSpPr>
          <p:cNvPr id="5" name="Shape 1"/>
          <p:cNvSpPr/>
          <p:nvPr/>
        </p:nvSpPr>
        <p:spPr>
          <a:xfrm>
            <a:off x="-1371600" y="-914400"/>
            <a:ext cx="3200400" cy="3200400"/>
          </a:xfrm>
          <a:prstGeom prst="ellipse">
            <a:avLst/>
          </a:prstGeom>
          <a:solidFill>
            <a:srgbClr val="4FC3F7">
              <a:alpha val="10000"/>
            </a:srgbClr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6" name="Shape 2"/>
          <p:cNvSpPr/>
          <p:nvPr/>
        </p:nvSpPr>
        <p:spPr>
          <a:xfrm>
            <a:off x="365760" y="1371600"/>
            <a:ext cx="3657600" cy="0"/>
          </a:xfrm>
          <a:prstGeom prst="line">
            <a:avLst/>
          </a:prstGeom>
          <a:noFill/>
          <a:ln w="19050">
            <a:solidFill>
              <a:srgbClr val="6C63FF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768096" y="320040"/>
            <a:ext cx="508406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1F5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3600" dirty="0"/>
          </a:p>
        </p:txBody>
      </p:sp>
      <p:sp>
        <p:nvSpPr>
          <p:cNvPr id="8" name="Shape 4"/>
          <p:cNvSpPr/>
          <p:nvPr/>
        </p:nvSpPr>
        <p:spPr>
          <a:xfrm>
            <a:off x="365760" y="1508760"/>
            <a:ext cx="5303520" cy="996406"/>
          </a:xfrm>
          <a:prstGeom prst="roundRect">
            <a:avLst>
              <a:gd name="adj" fmla="val 8421"/>
            </a:avLst>
          </a:prstGeom>
          <a:solidFill>
            <a:srgbClr val="141B2D"/>
          </a:solidFill>
          <a:ln w="12700">
            <a:solidFill>
              <a:srgbClr val="6C63FF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594360" y="1508760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594360" y="197104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Marketly provides a complete e-commerce solution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product management, order tracking,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administrative control through a modern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user-friendly web application.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365760" y="2560320"/>
            <a:ext cx="5303520" cy="996406"/>
          </a:xfrm>
          <a:prstGeom prst="roundRect">
            <a:avLst>
              <a:gd name="adj" fmla="val 8421"/>
            </a:avLst>
          </a:prstGeom>
          <a:solidFill>
            <a:srgbClr val="141B2D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594360" y="2560320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Learnings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594360" y="302260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with React &amp; Redux Toolkit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 Authentication &amp; Firestore Integration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Management &amp; Performance Optimization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Collaboration &amp; Project Deployment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365760" y="3611880"/>
            <a:ext cx="5303520" cy="996406"/>
          </a:xfrm>
          <a:prstGeom prst="roundRect">
            <a:avLst>
              <a:gd name="adj" fmla="val 8421"/>
            </a:avLst>
          </a:prstGeom>
          <a:solidFill>
            <a:srgbClr val="141B2D"/>
          </a:solidFill>
          <a:ln w="12700">
            <a:solidFill>
              <a:srgbClr val="00E676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594360" y="3611880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E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594360" y="4074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Reviews &amp; Ratings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Wishlist Functionality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Search &amp; Filtering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Notifications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5760720" y="1371600"/>
            <a:ext cx="3108960" cy="3474720"/>
          </a:xfrm>
          <a:prstGeom prst="roundRect">
            <a:avLst>
              <a:gd name="adj" fmla="val 3529"/>
            </a:avLst>
          </a:prstGeom>
          <a:solidFill>
            <a:srgbClr val="1A2340"/>
          </a:solidFill>
          <a:ln w="12700">
            <a:solidFill>
              <a:srgbClr val="6C63F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5760720" y="1737360"/>
            <a:ext cx="3108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1F5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</a:t>
            </a:r>
            <a:endParaRPr lang="en-US" sz="3000" dirty="0"/>
          </a:p>
        </p:txBody>
      </p:sp>
      <p:sp>
        <p:nvSpPr>
          <p:cNvPr id="19" name="Text 15"/>
          <p:cNvSpPr/>
          <p:nvPr/>
        </p:nvSpPr>
        <p:spPr>
          <a:xfrm>
            <a:off x="5760720" y="2286000"/>
            <a:ext cx="3108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You!</a:t>
            </a:r>
            <a:endParaRPr lang="en-US" sz="3000" dirty="0"/>
          </a:p>
        </p:txBody>
      </p:sp>
      <p:sp>
        <p:nvSpPr>
          <p:cNvPr id="20" name="Shape 16"/>
          <p:cNvSpPr/>
          <p:nvPr/>
        </p:nvSpPr>
        <p:spPr>
          <a:xfrm>
            <a:off x="6217920" y="2971800"/>
            <a:ext cx="2194560" cy="0"/>
          </a:xfrm>
          <a:prstGeom prst="line">
            <a:avLst/>
          </a:prstGeom>
          <a:noFill/>
          <a:ln w="6350">
            <a:solidFill>
              <a:srgbClr val="1E2D4A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5760720" y="315468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Sohaib Ayman — Team Leader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ITC Graduation Project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70</TotalTime>
  <Words>536</Words>
  <Application>Microsoft Office PowerPoint</Application>
  <PresentationFormat>On-screen Show (16:9)</PresentationFormat>
  <Paragraphs>164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ITC Graduation Project</dc:title>
  <dc:subject>PptxGenJS Presentation</dc:subject>
  <dc:creator>PptxGenJS</dc:creator>
  <cp:lastModifiedBy>Sohaib Ayman</cp:lastModifiedBy>
  <cp:revision>11</cp:revision>
  <dcterms:created xsi:type="dcterms:W3CDTF">2026-06-22T16:21:38Z</dcterms:created>
  <dcterms:modified xsi:type="dcterms:W3CDTF">2026-06-23T08:09:36Z</dcterms:modified>
</cp:coreProperties>
</file>